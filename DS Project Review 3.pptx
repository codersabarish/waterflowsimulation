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63" r:id="rId18"/>
  </p:sldIdLst>
  <p:sldSz cx="9144000" cy="5143500" type="screen16x9"/>
  <p:notesSz cx="6797675" cy="9926638"/>
  <p:embeddedFontLst>
    <p:embeddedFont>
      <p:font typeface="Bookman Old Style" panose="02050604050505020204" pitchFamily="18" charset="0"/>
      <p:regular r:id="rId20"/>
      <p:bold r:id="rId21"/>
      <p:italic r:id="rId22"/>
      <p:boldItalic r:id="rId23"/>
    </p:embeddedFont>
    <p:embeddedFont>
      <p:font typeface="Gill Sans" panose="020B0604020202020204"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n+YqQNLEODNxukWC+moNNe7rN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60B54D-2F12-4FEA-B639-18B5B5E1A9AA}">
  <a:tblStyle styleId="{A360B54D-2F12-4FEA-B639-18B5B5E1A9AA}" styleName="Table_0">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CF0"/>
          </a:solidFill>
        </a:fill>
      </a:tcStyle>
    </a:wholeTbl>
    <a:band1H>
      <a:tcTxStyle b="off" i="off"/>
      <a:tcStyle>
        <a:tcBdr/>
        <a:fill>
          <a:solidFill>
            <a:srgbClr val="D4D6E0"/>
          </a:solidFill>
        </a:fill>
      </a:tcStyle>
    </a:band1H>
    <a:band2H>
      <a:tcTxStyle b="off" i="off"/>
      <a:tcStyle>
        <a:tcBdr/>
      </a:tcStyle>
    </a:band2H>
    <a:band1V>
      <a:tcTxStyle b="off" i="off"/>
      <a:tcStyle>
        <a:tcBdr/>
        <a:fill>
          <a:solidFill>
            <a:srgbClr val="D4D6E0"/>
          </a:solidFill>
        </a:fill>
      </a:tcStyle>
    </a:band1V>
    <a:band2V>
      <a:tcTxStyle b="off" i="off"/>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5300"/>
          </a:xfrm>
          <a:prstGeom prst="rect">
            <a:avLst/>
          </a:prstGeom>
          <a:noFill/>
          <a:ln>
            <a:noFill/>
          </a:ln>
        </p:spPr>
        <p:txBody>
          <a:bodyPr spcFirstLastPara="1" wrap="square" lIns="95550" tIns="47775" rIns="95550" bIns="47775"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5300"/>
          </a:xfrm>
          <a:prstGeom prst="rect">
            <a:avLst/>
          </a:prstGeom>
          <a:noFill/>
          <a:ln>
            <a:noFill/>
          </a:ln>
        </p:spPr>
        <p:txBody>
          <a:bodyPr spcFirstLastPara="1" wrap="square" lIns="95550" tIns="47775" rIns="95550" bIns="4777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5300"/>
          </a:xfrm>
          <a:prstGeom prst="rect">
            <a:avLst/>
          </a:prstGeom>
          <a:noFill/>
          <a:ln>
            <a:noFill/>
          </a:ln>
        </p:spPr>
        <p:txBody>
          <a:bodyPr spcFirstLastPara="1" wrap="square" lIns="95550" tIns="47775" rIns="95550" bIns="47775"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5300"/>
          </a:xfrm>
          <a:prstGeom prst="rect">
            <a:avLst/>
          </a:prstGeom>
          <a:noFill/>
          <a:ln>
            <a:noFill/>
          </a:ln>
        </p:spPr>
        <p:txBody>
          <a:bodyPr spcFirstLastPara="1" wrap="square" lIns="95550" tIns="47775" rIns="95550" bIns="4777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682211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07" name="Google Shape;107;p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14" name="Google Shape;114;p2: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23" name="Google Shape;123;p3: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30" name="Google Shape;130;p4: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38" name="Google Shape;138;p5: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45" name="Google Shape;145;p6: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7: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52" name="Google Shape;152;p7: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79450" y="4714875"/>
            <a:ext cx="5438775" cy="4465638"/>
          </a:xfrm>
          <a:prstGeom prst="rect">
            <a:avLst/>
          </a:prstGeom>
          <a:noFill/>
          <a:ln>
            <a:noFill/>
          </a:ln>
        </p:spPr>
        <p:txBody>
          <a:bodyPr spcFirstLastPara="1" wrap="square" lIns="95550" tIns="47775" rIns="95550" bIns="47775" anchor="t" anchorCtr="0">
            <a:noAutofit/>
          </a:bodyPr>
          <a:lstStyle/>
          <a:p>
            <a:pPr marL="0" lvl="0" indent="0" algn="l" rtl="0">
              <a:lnSpc>
                <a:spcPct val="100000"/>
              </a:lnSpc>
              <a:spcBef>
                <a:spcPts val="360"/>
              </a:spcBef>
              <a:spcAft>
                <a:spcPts val="0"/>
              </a:spcAft>
              <a:buSzPts val="1400"/>
              <a:buNone/>
            </a:pPr>
            <a:endParaRPr/>
          </a:p>
        </p:txBody>
      </p:sp>
      <p:sp>
        <p:nvSpPr>
          <p:cNvPr id="161" name="Google Shape;161;p11:notes"/>
          <p:cNvSpPr>
            <a:spLocks noGrp="1" noRot="1" noChangeAspect="1"/>
          </p:cNvSpPr>
          <p:nvPr>
            <p:ph type="sldImg" idx="2"/>
          </p:nvPr>
        </p:nvSpPr>
        <p:spPr>
          <a:xfrm>
            <a:off x="92075" y="746125"/>
            <a:ext cx="6613525" cy="3721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
        <p:cNvGrpSpPr/>
        <p:nvPr/>
      </p:nvGrpSpPr>
      <p:grpSpPr>
        <a:xfrm>
          <a:off x="0" y="0"/>
          <a:ext cx="0" cy="0"/>
          <a:chOff x="0" y="0"/>
          <a:chExt cx="0" cy="0"/>
        </a:xfrm>
      </p:grpSpPr>
      <p:sp>
        <p:nvSpPr>
          <p:cNvPr id="19" name="Google Shape;19;p13"/>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3"/>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23" name="Google Shape;23;p13"/>
          <p:cNvSpPr txBox="1">
            <a:spLocks noGrp="1"/>
          </p:cNvSpPr>
          <p:nvPr>
            <p:ph type="body" idx="1"/>
          </p:nvPr>
        </p:nvSpPr>
        <p:spPr>
          <a:xfrm>
            <a:off x="457200" y="914400"/>
            <a:ext cx="4041648"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24" name="Google Shape;24;p13"/>
          <p:cNvSpPr txBox="1">
            <a:spLocks noGrp="1"/>
          </p:cNvSpPr>
          <p:nvPr>
            <p:ph type="body" idx="2"/>
          </p:nvPr>
        </p:nvSpPr>
        <p:spPr>
          <a:xfrm>
            <a:off x="4632198" y="912114"/>
            <a:ext cx="4041648"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4"/>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30" name="Google Shape;30;p14"/>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15"/>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5"/>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5"/>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36" name="Google Shape;36;p15"/>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
        <p:cNvGrpSpPr/>
        <p:nvPr/>
      </p:nvGrpSpPr>
      <p:grpSpPr>
        <a:xfrm>
          <a:off x="0" y="0"/>
          <a:ext cx="0" cy="0"/>
          <a:chOff x="0" y="0"/>
          <a:chExt cx="0" cy="0"/>
        </a:xfrm>
      </p:grpSpPr>
      <p:sp>
        <p:nvSpPr>
          <p:cNvPr id="38" name="Google Shape;38;p16"/>
          <p:cNvSpPr txBox="1">
            <a:spLocks noGrp="1"/>
          </p:cNvSpPr>
          <p:nvPr>
            <p:ph type="ctrTitle"/>
          </p:nvPr>
        </p:nvSpPr>
        <p:spPr>
          <a:xfrm>
            <a:off x="1219200" y="2914650"/>
            <a:ext cx="6858000" cy="74295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ubTitle" idx="1"/>
          </p:nvPr>
        </p:nvSpPr>
        <p:spPr>
          <a:xfrm>
            <a:off x="1219200" y="3843338"/>
            <a:ext cx="6858000" cy="40005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a:endParaRPr/>
          </a:p>
        </p:txBody>
      </p:sp>
      <p:sp>
        <p:nvSpPr>
          <p:cNvPr id="40" name="Google Shape;40;p16"/>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6"/>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sldNum" idx="12"/>
          </p:nvPr>
        </p:nvSpPr>
        <p:spPr>
          <a:xfrm>
            <a:off x="1216152" y="4766310"/>
            <a:ext cx="1219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43" name="Google Shape;43;p16"/>
          <p:cNvSpPr/>
          <p:nvPr/>
        </p:nvSpPr>
        <p:spPr>
          <a:xfrm>
            <a:off x="904875" y="2736056"/>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4" name="Google Shape;44;p16"/>
          <p:cNvSpPr/>
          <p:nvPr/>
        </p:nvSpPr>
        <p:spPr>
          <a:xfrm>
            <a:off x="914400" y="3786188"/>
            <a:ext cx="7315200" cy="51435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5" name="Google Shape;45;p16"/>
          <p:cNvSpPr/>
          <p:nvPr/>
        </p:nvSpPr>
        <p:spPr>
          <a:xfrm>
            <a:off x="904875" y="2736056"/>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46" name="Google Shape;46;p16"/>
          <p:cNvSpPr/>
          <p:nvPr/>
        </p:nvSpPr>
        <p:spPr>
          <a:xfrm>
            <a:off x="914400" y="3786188"/>
            <a:ext cx="228600" cy="51435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17"/>
          <p:cNvSpPr txBox="1">
            <a:spLocks noGrp="1"/>
          </p:cNvSpPr>
          <p:nvPr>
            <p:ph type="title"/>
          </p:nvPr>
        </p:nvSpPr>
        <p:spPr>
          <a:xfrm>
            <a:off x="1219200" y="2228850"/>
            <a:ext cx="6858000" cy="80010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2"/>
              </a:buClr>
              <a:buSzPts val="3200"/>
              <a:buFont typeface="Bookman Old Style"/>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7"/>
          <p:cNvSpPr txBox="1">
            <a:spLocks noGrp="1"/>
          </p:cNvSpPr>
          <p:nvPr>
            <p:ph type="body" idx="1"/>
          </p:nvPr>
        </p:nvSpPr>
        <p:spPr>
          <a:xfrm>
            <a:off x="1295400" y="3200400"/>
            <a:ext cx="6781800" cy="85725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600"/>
              </a:spcBef>
              <a:spcAft>
                <a:spcPts val="0"/>
              </a:spcAft>
              <a:buSzPts val="1520"/>
              <a:buNone/>
              <a:defRPr sz="2000">
                <a:solidFill>
                  <a:schemeClr val="lt1"/>
                </a:solidFill>
              </a:defRPr>
            </a:lvl1pPr>
            <a:lvl2pPr marL="914400" lvl="1" indent="-228600" algn="l">
              <a:lnSpc>
                <a:spcPct val="100000"/>
              </a:lnSpc>
              <a:spcBef>
                <a:spcPts val="500"/>
              </a:spcBef>
              <a:spcAft>
                <a:spcPts val="0"/>
              </a:spcAft>
              <a:buSzPts val="1368"/>
              <a:buNone/>
              <a:defRPr sz="1800">
                <a:solidFill>
                  <a:schemeClr val="lt1"/>
                </a:solidFill>
              </a:defRPr>
            </a:lvl2pPr>
            <a:lvl3pPr marL="1371600" lvl="2" indent="-228600" algn="l">
              <a:lnSpc>
                <a:spcPct val="100000"/>
              </a:lnSpc>
              <a:spcBef>
                <a:spcPts val="500"/>
              </a:spcBef>
              <a:spcAft>
                <a:spcPts val="0"/>
              </a:spcAft>
              <a:buSzPts val="1216"/>
              <a:buNone/>
              <a:defRPr sz="1600">
                <a:solidFill>
                  <a:schemeClr val="lt1"/>
                </a:solidFill>
              </a:defRPr>
            </a:lvl3pPr>
            <a:lvl4pPr marL="1828800" lvl="3" indent="-228600" algn="l">
              <a:lnSpc>
                <a:spcPct val="100000"/>
              </a:lnSpc>
              <a:spcBef>
                <a:spcPts val="400"/>
              </a:spcBef>
              <a:spcAft>
                <a:spcPts val="0"/>
              </a:spcAft>
              <a:buSzPts val="980"/>
              <a:buNone/>
              <a:defRPr sz="1400">
                <a:solidFill>
                  <a:schemeClr val="lt1"/>
                </a:solidFill>
              </a:defRPr>
            </a:lvl4pPr>
            <a:lvl5pPr marL="2286000" lvl="4" indent="-228600" algn="l">
              <a:lnSpc>
                <a:spcPct val="100000"/>
              </a:lnSpc>
              <a:spcBef>
                <a:spcPts val="300"/>
              </a:spcBef>
              <a:spcAft>
                <a:spcPts val="0"/>
              </a:spcAft>
              <a:buSzPts val="980"/>
              <a:buNone/>
              <a:defRPr sz="1400">
                <a:solidFill>
                  <a:schemeClr val="lt1"/>
                </a:solidFill>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0" name="Google Shape;50;p17"/>
          <p:cNvSpPr txBox="1">
            <a:spLocks noGrp="1"/>
          </p:cNvSpPr>
          <p:nvPr>
            <p:ph type="dt" idx="10"/>
          </p:nvPr>
        </p:nvSpPr>
        <p:spPr>
          <a:xfrm>
            <a:off x="6400800" y="4766310"/>
            <a:ext cx="2286000"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ftr" idx="11"/>
          </p:nvPr>
        </p:nvSpPr>
        <p:spPr>
          <a:xfrm>
            <a:off x="2898648" y="4766310"/>
            <a:ext cx="347472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sldNum" idx="12"/>
          </p:nvPr>
        </p:nvSpPr>
        <p:spPr>
          <a:xfrm>
            <a:off x="1069848" y="4766310"/>
            <a:ext cx="1520952"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53" name="Google Shape;53;p17"/>
          <p:cNvSpPr/>
          <p:nvPr/>
        </p:nvSpPr>
        <p:spPr>
          <a:xfrm>
            <a:off x="914400" y="2114550"/>
            <a:ext cx="7315200" cy="96012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54" name="Google Shape;54;p17"/>
          <p:cNvSpPr/>
          <p:nvPr/>
        </p:nvSpPr>
        <p:spPr>
          <a:xfrm>
            <a:off x="914400" y="2114550"/>
            <a:ext cx="228600" cy="96012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8"/>
          <p:cNvSpPr txBox="1">
            <a:spLocks noGrp="1"/>
          </p:cNvSpPr>
          <p:nvPr>
            <p:ph type="title"/>
          </p:nvPr>
        </p:nvSpPr>
        <p:spPr>
          <a:xfrm>
            <a:off x="457200" y="171450"/>
            <a:ext cx="8229600" cy="6858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32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8"/>
          <p:cNvSpPr txBox="1">
            <a:spLocks noGrp="1"/>
          </p:cNvSpPr>
          <p:nvPr>
            <p:ph type="body" idx="1"/>
          </p:nvPr>
        </p:nvSpPr>
        <p:spPr>
          <a:xfrm>
            <a:off x="457200" y="964406"/>
            <a:ext cx="4040188" cy="51435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600"/>
              </a:spcBef>
              <a:spcAft>
                <a:spcPts val="0"/>
              </a:spcAft>
              <a:buSzPts val="1824"/>
              <a:buNone/>
              <a:defRPr sz="2400" b="1">
                <a:solidFill>
                  <a:schemeClr val="accent2"/>
                </a:solidFill>
              </a:defRPr>
            </a:lvl1pPr>
            <a:lvl2pPr marL="914400" lvl="1" indent="-228600" algn="l">
              <a:lnSpc>
                <a:spcPct val="100000"/>
              </a:lnSpc>
              <a:spcBef>
                <a:spcPts val="500"/>
              </a:spcBef>
              <a:spcAft>
                <a:spcPts val="0"/>
              </a:spcAft>
              <a:buSzPts val="1520"/>
              <a:buNone/>
              <a:defRPr sz="2000" b="1"/>
            </a:lvl2pPr>
            <a:lvl3pPr marL="1371600" lvl="2" indent="-228600" algn="l">
              <a:lnSpc>
                <a:spcPct val="100000"/>
              </a:lnSpc>
              <a:spcBef>
                <a:spcPts val="500"/>
              </a:spcBef>
              <a:spcAft>
                <a:spcPts val="0"/>
              </a:spcAft>
              <a:buSzPts val="1368"/>
              <a:buNone/>
              <a:defRPr sz="1800" b="1"/>
            </a:lvl3pPr>
            <a:lvl4pPr marL="1828800" lvl="3" indent="-228600" algn="l">
              <a:lnSpc>
                <a:spcPct val="100000"/>
              </a:lnSpc>
              <a:spcBef>
                <a:spcPts val="400"/>
              </a:spcBef>
              <a:spcAft>
                <a:spcPts val="0"/>
              </a:spcAft>
              <a:buSzPts val="1120"/>
              <a:buNone/>
              <a:defRPr sz="1600" b="1"/>
            </a:lvl4pPr>
            <a:lvl5pPr marL="2286000" lvl="4" indent="-228600" algn="l">
              <a:lnSpc>
                <a:spcPct val="100000"/>
              </a:lnSpc>
              <a:spcBef>
                <a:spcPts val="300"/>
              </a:spcBef>
              <a:spcAft>
                <a:spcPts val="0"/>
              </a:spcAft>
              <a:buSzPts val="1120"/>
              <a:buNone/>
              <a:defRPr sz="1600" b="1"/>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8" name="Google Shape;58;p18"/>
          <p:cNvSpPr txBox="1">
            <a:spLocks noGrp="1"/>
          </p:cNvSpPr>
          <p:nvPr>
            <p:ph type="body" idx="2"/>
          </p:nvPr>
        </p:nvSpPr>
        <p:spPr>
          <a:xfrm>
            <a:off x="4648201" y="971550"/>
            <a:ext cx="4041775" cy="51435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600"/>
              </a:spcBef>
              <a:spcAft>
                <a:spcPts val="0"/>
              </a:spcAft>
              <a:buSzPts val="1824"/>
              <a:buNone/>
              <a:defRPr sz="2400" b="1">
                <a:solidFill>
                  <a:schemeClr val="accent2"/>
                </a:solidFill>
              </a:defRPr>
            </a:lvl1pPr>
            <a:lvl2pPr marL="914400" lvl="1" indent="-228600" algn="l">
              <a:lnSpc>
                <a:spcPct val="100000"/>
              </a:lnSpc>
              <a:spcBef>
                <a:spcPts val="500"/>
              </a:spcBef>
              <a:spcAft>
                <a:spcPts val="0"/>
              </a:spcAft>
              <a:buSzPts val="1520"/>
              <a:buNone/>
              <a:defRPr sz="2000" b="1"/>
            </a:lvl2pPr>
            <a:lvl3pPr marL="1371600" lvl="2" indent="-228600" algn="l">
              <a:lnSpc>
                <a:spcPct val="100000"/>
              </a:lnSpc>
              <a:spcBef>
                <a:spcPts val="500"/>
              </a:spcBef>
              <a:spcAft>
                <a:spcPts val="0"/>
              </a:spcAft>
              <a:buSzPts val="1368"/>
              <a:buNone/>
              <a:defRPr sz="1800" b="1"/>
            </a:lvl3pPr>
            <a:lvl4pPr marL="1828800" lvl="3" indent="-228600" algn="l">
              <a:lnSpc>
                <a:spcPct val="100000"/>
              </a:lnSpc>
              <a:spcBef>
                <a:spcPts val="400"/>
              </a:spcBef>
              <a:spcAft>
                <a:spcPts val="0"/>
              </a:spcAft>
              <a:buSzPts val="1120"/>
              <a:buNone/>
              <a:defRPr sz="1600" b="1"/>
            </a:lvl4pPr>
            <a:lvl5pPr marL="2286000" lvl="4" indent="-228600" algn="l">
              <a:lnSpc>
                <a:spcPct val="100000"/>
              </a:lnSpc>
              <a:spcBef>
                <a:spcPts val="300"/>
              </a:spcBef>
              <a:spcAft>
                <a:spcPts val="0"/>
              </a:spcAft>
              <a:buSzPts val="1120"/>
              <a:buNone/>
              <a:defRPr sz="1600" b="1"/>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59" name="Google Shape;59;p18"/>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8"/>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
        <p:nvSpPr>
          <p:cNvPr id="62" name="Google Shape;62;p18"/>
          <p:cNvSpPr txBox="1">
            <a:spLocks noGrp="1"/>
          </p:cNvSpPr>
          <p:nvPr>
            <p:ph type="body" idx="3"/>
          </p:nvPr>
        </p:nvSpPr>
        <p:spPr>
          <a:xfrm>
            <a:off x="457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63" name="Google Shape;63;p18"/>
          <p:cNvSpPr txBox="1">
            <a:spLocks noGrp="1"/>
          </p:cNvSpPr>
          <p:nvPr>
            <p:ph type="body" idx="4"/>
          </p:nvPr>
        </p:nvSpPr>
        <p:spPr>
          <a:xfrm>
            <a:off x="4648200" y="1600200"/>
            <a:ext cx="4038600" cy="30289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19"/>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68" name="Google Shape;68;p19"/>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19"/>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0"/>
          <p:cNvSpPr txBox="1">
            <a:spLocks noGrp="1"/>
          </p:cNvSpPr>
          <p:nvPr>
            <p:ph type="title"/>
          </p:nvPr>
        </p:nvSpPr>
        <p:spPr>
          <a:xfrm>
            <a:off x="6324600" y="228600"/>
            <a:ext cx="2514600" cy="6286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body" idx="1"/>
          </p:nvPr>
        </p:nvSpPr>
        <p:spPr>
          <a:xfrm>
            <a:off x="6324600" y="914401"/>
            <a:ext cx="2514600" cy="3632597"/>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lnSpc>
                <a:spcPct val="100000"/>
              </a:lnSpc>
              <a:spcBef>
                <a:spcPts val="1000"/>
              </a:spcBef>
              <a:spcAft>
                <a:spcPts val="0"/>
              </a:spcAft>
              <a:buSzPts val="912"/>
              <a:buNone/>
              <a:defRPr sz="1200"/>
            </a:lvl2pPr>
            <a:lvl3pPr marL="1371600" lvl="2" indent="-228600" algn="l">
              <a:lnSpc>
                <a:spcPct val="100000"/>
              </a:lnSpc>
              <a:spcBef>
                <a:spcPts val="500"/>
              </a:spcBef>
              <a:spcAft>
                <a:spcPts val="0"/>
              </a:spcAft>
              <a:buSzPts val="760"/>
              <a:buNone/>
              <a:defRPr sz="1000"/>
            </a:lvl3pPr>
            <a:lvl4pPr marL="1828800" lvl="3" indent="-228600" algn="l">
              <a:lnSpc>
                <a:spcPct val="100000"/>
              </a:lnSpc>
              <a:spcBef>
                <a:spcPts val="400"/>
              </a:spcBef>
              <a:spcAft>
                <a:spcPts val="0"/>
              </a:spcAft>
              <a:buSzPts val="630"/>
              <a:buNone/>
              <a:defRPr sz="900"/>
            </a:lvl4pPr>
            <a:lvl5pPr marL="2286000" lvl="4" indent="-228600" algn="l">
              <a:lnSpc>
                <a:spcPct val="100000"/>
              </a:lnSpc>
              <a:spcBef>
                <a:spcPts val="300"/>
              </a:spcBef>
              <a:spcAft>
                <a:spcPts val="0"/>
              </a:spcAft>
              <a:buSzPts val="630"/>
              <a:buNone/>
              <a:defRPr sz="900"/>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73" name="Google Shape;73;p20"/>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0"/>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0"/>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76" name="Google Shape;76;p20"/>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20"/>
          <p:cNvCxnSpPr/>
          <p:nvPr/>
        </p:nvCxnSpPr>
        <p:spPr>
          <a:xfrm rot="5400000">
            <a:off x="3915025" y="2493169"/>
            <a:ext cx="452628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20"/>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79" name="Google Shape;79;p20"/>
          <p:cNvSpPr txBox="1">
            <a:spLocks noGrp="1"/>
          </p:cNvSpPr>
          <p:nvPr>
            <p:ph type="body" idx="2"/>
          </p:nvPr>
        </p:nvSpPr>
        <p:spPr>
          <a:xfrm>
            <a:off x="304800" y="228600"/>
            <a:ext cx="5715000" cy="428625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21"/>
          <p:cNvSpPr txBox="1">
            <a:spLocks noGrp="1"/>
          </p:cNvSpPr>
          <p:nvPr>
            <p:ph type="title"/>
          </p:nvPr>
        </p:nvSpPr>
        <p:spPr>
          <a:xfrm>
            <a:off x="457200" y="375642"/>
            <a:ext cx="8229600" cy="506016"/>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lnSpc>
                <a:spcPct val="100000"/>
              </a:lnSpc>
              <a:spcBef>
                <a:spcPts val="0"/>
              </a:spcBef>
              <a:spcAft>
                <a:spcPts val="0"/>
              </a:spcAft>
              <a:buClr>
                <a:schemeClr val="lt1"/>
              </a:buClr>
              <a:buSzPts val="2000"/>
              <a:buFont typeface="Bookman Old Style"/>
              <a:buNone/>
              <a:defRPr sz="2000" b="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1"/>
          <p:cNvSpPr>
            <a:spLocks noGrp="1"/>
          </p:cNvSpPr>
          <p:nvPr>
            <p:ph type="pic" idx="2"/>
          </p:nvPr>
        </p:nvSpPr>
        <p:spPr>
          <a:xfrm>
            <a:off x="457200" y="1428750"/>
            <a:ext cx="8229600" cy="3202686"/>
          </a:xfrm>
          <a:prstGeom prst="rect">
            <a:avLst/>
          </a:prstGeom>
          <a:solidFill>
            <a:srgbClr val="BABABA"/>
          </a:solidFill>
          <a:ln>
            <a:noFill/>
          </a:ln>
        </p:spPr>
      </p:sp>
      <p:sp>
        <p:nvSpPr>
          <p:cNvPr id="83" name="Google Shape;83;p21"/>
          <p:cNvSpPr txBox="1">
            <a:spLocks noGrp="1"/>
          </p:cNvSpPr>
          <p:nvPr>
            <p:ph type="body" idx="1"/>
          </p:nvPr>
        </p:nvSpPr>
        <p:spPr>
          <a:xfrm>
            <a:off x="457200" y="914400"/>
            <a:ext cx="8229600" cy="40005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600"/>
              </a:spcBef>
              <a:spcAft>
                <a:spcPts val="0"/>
              </a:spcAft>
              <a:buSzPts val="1064"/>
              <a:buFont typeface="Gill Sans"/>
              <a:buNone/>
              <a:defRPr sz="1400"/>
            </a:lvl1pPr>
            <a:lvl2pPr marL="914400" lvl="1" indent="-286512" algn="l">
              <a:lnSpc>
                <a:spcPct val="100000"/>
              </a:lnSpc>
              <a:spcBef>
                <a:spcPts val="500"/>
              </a:spcBef>
              <a:spcAft>
                <a:spcPts val="0"/>
              </a:spcAft>
              <a:buSzPts val="912"/>
              <a:buChar char="?"/>
              <a:defRPr sz="1200"/>
            </a:lvl2pPr>
            <a:lvl3pPr marL="1371600" lvl="2" indent="-276860" algn="l">
              <a:lnSpc>
                <a:spcPct val="100000"/>
              </a:lnSpc>
              <a:spcBef>
                <a:spcPts val="500"/>
              </a:spcBef>
              <a:spcAft>
                <a:spcPts val="0"/>
              </a:spcAft>
              <a:buSzPts val="760"/>
              <a:buChar char="?"/>
              <a:defRPr sz="1000"/>
            </a:lvl3pPr>
            <a:lvl4pPr marL="1828800" lvl="3" indent="-268605" algn="l">
              <a:lnSpc>
                <a:spcPct val="100000"/>
              </a:lnSpc>
              <a:spcBef>
                <a:spcPts val="400"/>
              </a:spcBef>
              <a:spcAft>
                <a:spcPts val="0"/>
              </a:spcAft>
              <a:buSzPts val="630"/>
              <a:buChar char="◻"/>
              <a:defRPr sz="900"/>
            </a:lvl4pPr>
            <a:lvl5pPr marL="2286000" lvl="4" indent="-268604" algn="l">
              <a:lnSpc>
                <a:spcPct val="100000"/>
              </a:lnSpc>
              <a:spcBef>
                <a:spcPts val="300"/>
              </a:spcBef>
              <a:spcAft>
                <a:spcPts val="0"/>
              </a:spcAft>
              <a:buSzPts val="630"/>
              <a:buChar char="◻"/>
              <a:defRPr sz="900"/>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84" name="Google Shape;84;p21"/>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1"/>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87" name="Google Shape;87;p21"/>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21"/>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89" name="Google Shape;89;p21"/>
          <p:cNvSpPr/>
          <p:nvPr/>
        </p:nvSpPr>
        <p:spPr>
          <a:xfrm>
            <a:off x="457200" y="375642"/>
            <a:ext cx="182880" cy="51435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22"/>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2"/>
          <p:cNvSpPr txBox="1">
            <a:spLocks noGrp="1"/>
          </p:cNvSpPr>
          <p:nvPr>
            <p:ph type="body" idx="1"/>
          </p:nvPr>
        </p:nvSpPr>
        <p:spPr>
          <a:xfrm rot="5400000">
            <a:off x="2730627" y="-1359027"/>
            <a:ext cx="3682746" cy="822960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93" name="Google Shape;93;p22"/>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22"/>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23"/>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3"/>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15468" algn="l">
              <a:lnSpc>
                <a:spcPct val="100000"/>
              </a:lnSpc>
              <a:spcBef>
                <a:spcPts val="600"/>
              </a:spcBef>
              <a:spcAft>
                <a:spcPts val="0"/>
              </a:spcAft>
              <a:buSzPts val="1368"/>
              <a:buChar char="?"/>
              <a:defRPr/>
            </a:lvl1pPr>
            <a:lvl2pPr marL="914400" lvl="1" indent="-315468" algn="l">
              <a:lnSpc>
                <a:spcPct val="100000"/>
              </a:lnSpc>
              <a:spcBef>
                <a:spcPts val="500"/>
              </a:spcBef>
              <a:spcAft>
                <a:spcPts val="0"/>
              </a:spcAft>
              <a:buSzPts val="1368"/>
              <a:buChar char="?"/>
              <a:defRPr/>
            </a:lvl2pPr>
            <a:lvl3pPr marL="1371600" lvl="2" indent="-315467" algn="l">
              <a:lnSpc>
                <a:spcPct val="100000"/>
              </a:lnSpc>
              <a:spcBef>
                <a:spcPts val="500"/>
              </a:spcBef>
              <a:spcAft>
                <a:spcPts val="0"/>
              </a:spcAft>
              <a:buSzPts val="1368"/>
              <a:buChar char="?"/>
              <a:defRPr/>
            </a:lvl3pPr>
            <a:lvl4pPr marL="1828800" lvl="3" indent="-308610" algn="l">
              <a:lnSpc>
                <a:spcPct val="100000"/>
              </a:lnSpc>
              <a:spcBef>
                <a:spcPts val="400"/>
              </a:spcBef>
              <a:spcAft>
                <a:spcPts val="0"/>
              </a:spcAft>
              <a:buSzPts val="1260"/>
              <a:buChar char="◻"/>
              <a:defRPr/>
            </a:lvl4pPr>
            <a:lvl5pPr marL="2286000" lvl="4" indent="-308610" algn="l">
              <a:lnSpc>
                <a:spcPct val="100000"/>
              </a:lnSpc>
              <a:spcBef>
                <a:spcPts val="300"/>
              </a:spcBef>
              <a:spcAft>
                <a:spcPts val="0"/>
              </a:spcAft>
              <a:buSzPts val="1260"/>
              <a:buChar char="◻"/>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endParaRPr/>
          </a:p>
        </p:txBody>
      </p:sp>
      <p:sp>
        <p:nvSpPr>
          <p:cNvPr id="99" name="Google Shape;99;p23"/>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3"/>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02" name="Google Shape;102;p23"/>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23"/>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cxnSp>
        <p:nvCxnSpPr>
          <p:cNvPr id="104" name="Google Shape;104;p23"/>
          <p:cNvCxnSpPr/>
          <p:nvPr/>
        </p:nvCxnSpPr>
        <p:spPr>
          <a:xfrm rot="5400000">
            <a:off x="4361127" y="2401464"/>
            <a:ext cx="438912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mt="29000"/>
          </a:blip>
          <a:tile tx="0" ty="0" sx="100000" sy="100000" flip="none" algn="tl"/>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14300"/>
            <a:ext cx="8229600" cy="74295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914400"/>
            <a:ext cx="8229600" cy="3682746"/>
          </a:xfrm>
          <a:prstGeom prst="rect">
            <a:avLst/>
          </a:prstGeom>
          <a:noFill/>
          <a:ln>
            <a:noFill/>
          </a:ln>
        </p:spPr>
        <p:txBody>
          <a:bodyPr spcFirstLastPara="1" wrap="square" lIns="91425" tIns="45700" rIns="91425" bIns="45700" anchor="t" anchorCtr="0">
            <a:normAutofit/>
          </a:bodyPr>
          <a:lstStyle>
            <a:lvl1pPr marL="457200" marR="0" lvl="0" indent="-354076" algn="l" rtl="0">
              <a:lnSpc>
                <a:spcPct val="100000"/>
              </a:lnSpc>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lnSpc>
                <a:spcPct val="100000"/>
              </a:lnSpc>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lnSpc>
                <a:spcPct val="100000"/>
              </a:lnSpc>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lnSpc>
                <a:spcPct val="100000"/>
              </a:lnSpc>
              <a:spcBef>
                <a:spcPts val="400"/>
              </a:spcBef>
              <a:spcAft>
                <a:spcPts val="0"/>
              </a:spcAft>
              <a:buClr>
                <a:srgbClr val="8BA1B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lnSpc>
                <a:spcPct val="100000"/>
              </a:lnSpc>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lnSpc>
                <a:spcPct val="100000"/>
              </a:lnSpc>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lnSpc>
                <a:spcPct val="100000"/>
              </a:lnSpc>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lnSpc>
                <a:spcPct val="100000"/>
              </a:lnSpc>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lnSpc>
                <a:spcPct val="100000"/>
              </a:lnSpc>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12"/>
          <p:cNvSpPr txBox="1">
            <a:spLocks noGrp="1"/>
          </p:cNvSpPr>
          <p:nvPr>
            <p:ph type="dt" idx="10"/>
          </p:nvPr>
        </p:nvSpPr>
        <p:spPr>
          <a:xfrm>
            <a:off x="6400800" y="4767263"/>
            <a:ext cx="2289048" cy="2743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12"/>
          <p:cNvSpPr txBox="1">
            <a:spLocks noGrp="1"/>
          </p:cNvSpPr>
          <p:nvPr>
            <p:ph type="ftr" idx="11"/>
          </p:nvPr>
        </p:nvSpPr>
        <p:spPr>
          <a:xfrm>
            <a:off x="2898648" y="4767263"/>
            <a:ext cx="3505200" cy="27432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1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a:p>
        </p:txBody>
      </p:sp>
      <p:cxnSp>
        <p:nvCxnSpPr>
          <p:cNvPr id="15" name="Google Shape;15;p12"/>
          <p:cNvCxnSpPr/>
          <p:nvPr/>
        </p:nvCxnSpPr>
        <p:spPr>
          <a:xfrm>
            <a:off x="457200" y="4764881"/>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12"/>
          <p:cNvCxnSpPr/>
          <p:nvPr/>
        </p:nvCxnSpPr>
        <p:spPr>
          <a:xfrm>
            <a:off x="457200" y="85725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12"/>
          <p:cNvSpPr/>
          <p:nvPr/>
        </p:nvSpPr>
        <p:spPr>
          <a:xfrm rot="5400000">
            <a:off x="442957" y="4835567"/>
            <a:ext cx="143137"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geeksforgeeks.or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www.w3schools.com/"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F0C8"/>
        </a:solidFill>
        <a:effectLst/>
      </p:bgPr>
    </p:bg>
    <p:spTree>
      <p:nvGrpSpPr>
        <p:cNvPr id="1" name="Shape 108"/>
        <p:cNvGrpSpPr/>
        <p:nvPr/>
      </p:nvGrpSpPr>
      <p:grpSpPr>
        <a:xfrm>
          <a:off x="0" y="0"/>
          <a:ext cx="0" cy="0"/>
          <a:chOff x="0" y="0"/>
          <a:chExt cx="0" cy="0"/>
        </a:xfrm>
      </p:grpSpPr>
      <p:sp>
        <p:nvSpPr>
          <p:cNvPr id="109" name="Google Shape;109;p1"/>
          <p:cNvSpPr txBox="1">
            <a:spLocks noGrp="1"/>
          </p:cNvSpPr>
          <p:nvPr>
            <p:ph type="title"/>
          </p:nvPr>
        </p:nvSpPr>
        <p:spPr>
          <a:xfrm>
            <a:off x="0" y="1"/>
            <a:ext cx="9144000" cy="1052513"/>
          </a:xfrm>
          <a:prstGeom prst="rect">
            <a:avLst/>
          </a:prstGeom>
          <a:solidFill>
            <a:srgbClr val="93B9C3"/>
          </a:solidFill>
          <a:ln w="9525" cap="flat" cmpd="sng">
            <a:solidFill>
              <a:schemeClr val="dk1"/>
            </a:solidFill>
            <a:prstDash val="solid"/>
            <a:round/>
            <a:headEnd type="none" w="sm" len="sm"/>
            <a:tailEnd type="none" w="sm" len="sm"/>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2800"/>
              <a:buFont typeface="Times New Roman"/>
              <a:buNone/>
            </a:pPr>
            <a:r>
              <a:rPr lang="en-US" sz="2800" b="1" dirty="0">
                <a:solidFill>
                  <a:schemeClr val="tx1"/>
                </a:solidFill>
                <a:latin typeface="Times New Roman"/>
                <a:ea typeface="Times New Roman"/>
                <a:cs typeface="Times New Roman"/>
                <a:sym typeface="Times New Roman"/>
              </a:rPr>
              <a:t>MGB1121/ CGB1122/EGB1121 – DATA STRUCTURES</a:t>
            </a:r>
            <a:br>
              <a:rPr lang="en-US" sz="2800" b="1" dirty="0">
                <a:solidFill>
                  <a:schemeClr val="tx1"/>
                </a:solidFill>
                <a:latin typeface="Times New Roman"/>
                <a:ea typeface="Times New Roman"/>
                <a:cs typeface="Times New Roman"/>
                <a:sym typeface="Times New Roman"/>
              </a:rPr>
            </a:br>
            <a:r>
              <a:rPr lang="en-US" sz="2800" b="1" dirty="0">
                <a:solidFill>
                  <a:schemeClr val="tx1"/>
                </a:solidFill>
                <a:latin typeface="Times New Roman"/>
                <a:ea typeface="Times New Roman"/>
                <a:cs typeface="Times New Roman"/>
                <a:sym typeface="Times New Roman"/>
              </a:rPr>
              <a:t>PROJECT REVIEW-3</a:t>
            </a:r>
            <a:endParaRPr sz="2800" b="1" dirty="0">
              <a:solidFill>
                <a:schemeClr val="tx1"/>
              </a:solidFill>
              <a:latin typeface="Times New Roman"/>
              <a:ea typeface="Times New Roman"/>
              <a:cs typeface="Times New Roman"/>
              <a:sym typeface="Times New Roman"/>
            </a:endParaRPr>
          </a:p>
        </p:txBody>
      </p:sp>
      <p:sp>
        <p:nvSpPr>
          <p:cNvPr id="110" name="Google Shape;110;p1"/>
          <p:cNvSpPr txBox="1"/>
          <p:nvPr/>
        </p:nvSpPr>
        <p:spPr>
          <a:xfrm>
            <a:off x="916258" y="1278294"/>
            <a:ext cx="8015400" cy="3268422"/>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500"/>
              <a:buFont typeface="Arial"/>
              <a:buNone/>
            </a:pPr>
            <a:endParaRPr lang="en-US" sz="2500" b="1" dirty="0">
              <a:solidFill>
                <a:schemeClr val="dk1"/>
              </a:solidFill>
              <a:latin typeface="Times New Roman"/>
              <a:ea typeface="Times New Roman"/>
              <a:cs typeface="Times New Roman"/>
              <a:sym typeface="Times New Roman"/>
            </a:endParaRPr>
          </a:p>
          <a:p>
            <a:pPr algn="ctr">
              <a:buSzPts val="2500"/>
            </a:pPr>
            <a:r>
              <a:rPr lang="en-US" sz="2500" b="1" dirty="0">
                <a:solidFill>
                  <a:schemeClr val="dk1"/>
                </a:solidFill>
                <a:latin typeface="Times New Roman"/>
                <a:ea typeface="Times New Roman"/>
                <a:cs typeface="Times New Roman"/>
                <a:sym typeface="Times New Roman"/>
              </a:rPr>
              <a:t>Academic Year: 2025 – 2026 (Even Semester)</a:t>
            </a:r>
          </a:p>
          <a:p>
            <a:pPr algn="ctr">
              <a:buSzPts val="2500"/>
            </a:pPr>
            <a:endParaRPr sz="2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Register Number</a:t>
            </a:r>
            <a:r>
              <a:rPr lang="en-US" sz="2500" b="1" dirty="0">
                <a:solidFill>
                  <a:schemeClr val="dk1"/>
                </a:solidFill>
                <a:latin typeface="Times New Roman"/>
                <a:ea typeface="Times New Roman"/>
                <a:cs typeface="Times New Roman"/>
                <a:sym typeface="Times New Roman"/>
              </a:rPr>
              <a:t>		:</a:t>
            </a:r>
            <a:r>
              <a:rPr lang="en-US" sz="1600" b="1" dirty="0">
                <a:solidFill>
                  <a:schemeClr val="dk1"/>
                </a:solidFill>
                <a:latin typeface="Times New Roman"/>
                <a:ea typeface="Times New Roman"/>
                <a:cs typeface="Times New Roman"/>
                <a:sym typeface="Times New Roman"/>
              </a:rPr>
              <a:t>927625BSC001,927625BCS138,927625BCS180</a:t>
            </a:r>
          </a:p>
          <a:p>
            <a:pPr marL="0" marR="0" lvl="0" indent="0" algn="l" rtl="0">
              <a:lnSpc>
                <a:spcPct val="100000"/>
              </a:lnSpc>
              <a:spcBef>
                <a:spcPts val="0"/>
              </a:spcBef>
              <a:spcAft>
                <a:spcPts val="0"/>
              </a:spcAft>
              <a:buClr>
                <a:srgbClr val="000000"/>
              </a:buClr>
              <a:buSzPts val="2500"/>
              <a:buFont typeface="Arial"/>
              <a:buNone/>
            </a:pPr>
            <a:r>
              <a:rPr lang="en-US" sz="2500" b="1" dirty="0">
                <a:solidFill>
                  <a:schemeClr val="dk1"/>
                </a:solidFill>
                <a:latin typeface="Times New Roman"/>
                <a:ea typeface="Times New Roman"/>
                <a:cs typeface="Times New Roman"/>
                <a:sym typeface="Times New Roman"/>
              </a:rPr>
              <a:t>Section Roll Number	:</a:t>
            </a:r>
            <a:r>
              <a:rPr lang="en-US" sz="1800" b="1" dirty="0">
                <a:solidFill>
                  <a:schemeClr val="dk1"/>
                </a:solidFill>
                <a:latin typeface="Times New Roman"/>
                <a:ea typeface="Times New Roman"/>
                <a:cs typeface="Times New Roman"/>
                <a:sym typeface="Times New Roman"/>
              </a:rPr>
              <a:t>A601,A649,A662</a:t>
            </a: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Name</a:t>
            </a:r>
            <a:r>
              <a:rPr lang="en-US" sz="2500" b="1" dirty="0">
                <a:solidFill>
                  <a:schemeClr val="dk1"/>
                </a:solidFill>
                <a:latin typeface="Times New Roman"/>
                <a:ea typeface="Times New Roman"/>
                <a:cs typeface="Times New Roman"/>
                <a:sym typeface="Times New Roman"/>
              </a:rPr>
              <a:t>				</a:t>
            </a:r>
            <a:r>
              <a:rPr lang="en-US" sz="2500" b="1" i="0" u="none" strike="noStrike" cap="none" dirty="0">
                <a:solidFill>
                  <a:schemeClr val="dk1"/>
                </a:solidFill>
                <a:latin typeface="Times New Roman"/>
                <a:ea typeface="Times New Roman"/>
                <a:cs typeface="Times New Roman"/>
                <a:sym typeface="Times New Roman"/>
              </a:rPr>
              <a:t>:</a:t>
            </a:r>
            <a:r>
              <a:rPr lang="en-US" sz="1600" b="1" i="0" u="none" strike="noStrike" cap="none" dirty="0">
                <a:solidFill>
                  <a:schemeClr val="dk1"/>
                </a:solidFill>
                <a:latin typeface="Times New Roman"/>
                <a:ea typeface="Times New Roman"/>
                <a:cs typeface="Times New Roman"/>
                <a:sym typeface="Times New Roman"/>
              </a:rPr>
              <a:t>AJAY S, SABARISHWARAN P, VIMAL S</a:t>
            </a: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Year</a:t>
            </a:r>
            <a:r>
              <a:rPr lang="en-US" sz="2500" b="1" dirty="0">
                <a:solidFill>
                  <a:schemeClr val="dk1"/>
                </a:solidFill>
                <a:latin typeface="Times New Roman"/>
                <a:ea typeface="Times New Roman"/>
                <a:cs typeface="Times New Roman"/>
                <a:sym typeface="Times New Roman"/>
              </a:rPr>
              <a:t>				</a:t>
            </a:r>
            <a:r>
              <a:rPr lang="en-US" sz="2500" b="1" i="0" u="none" strike="noStrike" cap="none" dirty="0">
                <a:solidFill>
                  <a:schemeClr val="dk1"/>
                </a:solidFill>
                <a:latin typeface="Times New Roman"/>
                <a:ea typeface="Times New Roman"/>
                <a:cs typeface="Times New Roman"/>
                <a:sym typeface="Times New Roman"/>
              </a:rPr>
              <a:t>: </a:t>
            </a:r>
            <a:r>
              <a:rPr lang="en-US" sz="2500" b="1" dirty="0">
                <a:solidFill>
                  <a:schemeClr val="dk1"/>
                </a:solidFill>
                <a:latin typeface="Times New Roman"/>
                <a:ea typeface="Times New Roman"/>
                <a:cs typeface="Times New Roman"/>
                <a:sym typeface="Times New Roman"/>
              </a:rPr>
              <a:t>I</a:t>
            </a:r>
            <a:endParaRPr sz="2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Semester</a:t>
            </a:r>
            <a:r>
              <a:rPr lang="en-US" sz="2500" b="1" dirty="0">
                <a:solidFill>
                  <a:schemeClr val="dk1"/>
                </a:solidFill>
                <a:latin typeface="Times New Roman"/>
                <a:ea typeface="Times New Roman"/>
                <a:cs typeface="Times New Roman"/>
                <a:sym typeface="Times New Roman"/>
              </a:rPr>
              <a:t>			</a:t>
            </a:r>
            <a:r>
              <a:rPr lang="en-US" sz="2500" b="1" i="0" u="none" strike="noStrike" cap="none" dirty="0">
                <a:solidFill>
                  <a:schemeClr val="dk1"/>
                </a:solidFill>
                <a:latin typeface="Times New Roman"/>
                <a:ea typeface="Times New Roman"/>
                <a:cs typeface="Times New Roman"/>
                <a:sym typeface="Times New Roman"/>
              </a:rPr>
              <a:t>: </a:t>
            </a:r>
            <a:r>
              <a:rPr lang="en-US" sz="2500" b="1" dirty="0">
                <a:solidFill>
                  <a:schemeClr val="dk1"/>
                </a:solidFill>
                <a:latin typeface="Times New Roman"/>
                <a:ea typeface="Times New Roman"/>
                <a:cs typeface="Times New Roman"/>
                <a:sym typeface="Times New Roman"/>
              </a:rPr>
              <a:t>II</a:t>
            </a:r>
            <a:endParaRPr sz="2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Section			: A6</a:t>
            </a:r>
          </a:p>
          <a:p>
            <a:pPr marL="0" marR="0" lvl="0" indent="0" algn="l" rtl="0">
              <a:lnSpc>
                <a:spcPct val="100000"/>
              </a:lnSpc>
              <a:spcBef>
                <a:spcPts val="0"/>
              </a:spcBef>
              <a:spcAft>
                <a:spcPts val="0"/>
              </a:spcAft>
              <a:buClr>
                <a:srgbClr val="000000"/>
              </a:buClr>
              <a:buSzPts val="2500"/>
              <a:buFont typeface="Arial"/>
              <a:buNone/>
            </a:pPr>
            <a:r>
              <a:rPr lang="en-US" sz="2500" b="1" i="0" u="none" strike="noStrike" cap="none" dirty="0">
                <a:solidFill>
                  <a:schemeClr val="dk1"/>
                </a:solidFill>
                <a:latin typeface="Times New Roman"/>
                <a:ea typeface="Times New Roman"/>
                <a:cs typeface="Times New Roman"/>
                <a:sym typeface="Times New Roman"/>
              </a:rPr>
              <a:t>Date				: 22-0</a:t>
            </a:r>
            <a:r>
              <a:rPr lang="en-US" sz="2500" b="1" dirty="0">
                <a:solidFill>
                  <a:schemeClr val="dk1"/>
                </a:solidFill>
                <a:latin typeface="Times New Roman"/>
                <a:ea typeface="Times New Roman"/>
                <a:cs typeface="Times New Roman"/>
                <a:sym typeface="Times New Roman"/>
              </a:rPr>
              <a:t>4</a:t>
            </a:r>
            <a:r>
              <a:rPr lang="en-US" sz="2500" b="1" i="0" u="none" strike="noStrike" cap="none" dirty="0">
                <a:solidFill>
                  <a:schemeClr val="dk1"/>
                </a:solidFill>
                <a:latin typeface="Times New Roman"/>
                <a:ea typeface="Times New Roman"/>
                <a:cs typeface="Times New Roman"/>
                <a:sym typeface="Times New Roman"/>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title"/>
          </p:nvPr>
        </p:nvSpPr>
        <p:spPr>
          <a:xfrm>
            <a:off x="457200" y="1764750"/>
            <a:ext cx="8229600" cy="685800"/>
          </a:xfrm>
          <a:prstGeom prst="rect">
            <a:avLst/>
          </a:prstGeom>
          <a:solidFill>
            <a:srgbClr val="93B9C3"/>
          </a:solidFill>
          <a:ln>
            <a:noFill/>
          </a:ln>
        </p:spPr>
        <p:txBody>
          <a:bodyPr spcFirstLastPara="1" wrap="square" lIns="91425" tIns="45700" rIns="91425" bIns="45700" anchor="b" anchorCtr="0">
            <a:normAutofit fontScale="90000"/>
          </a:bodyPr>
          <a:lstStyle/>
          <a:p>
            <a:pPr lvl="0" algn="ctr">
              <a:buClr>
                <a:schemeClr val="dk1"/>
              </a:buClr>
              <a:buSzPts val="3200"/>
            </a:pPr>
            <a:r>
              <a:rPr lang="en-US" sz="4000" b="1" dirty="0">
                <a:solidFill>
                  <a:schemeClr val="dk1"/>
                </a:solidFill>
                <a:latin typeface="Times New Roman"/>
                <a:ea typeface="Times New Roman"/>
                <a:cs typeface="Times New Roman"/>
                <a:sym typeface="Times New Roman"/>
              </a:rPr>
              <a:t>Project Title</a:t>
            </a:r>
            <a:endParaRPr sz="4000" b="1" dirty="0">
              <a:solidFill>
                <a:schemeClr val="dk1"/>
              </a:solidFill>
              <a:latin typeface="Times New Roman"/>
              <a:ea typeface="Times New Roman"/>
              <a:cs typeface="Times New Roman"/>
              <a:sym typeface="Times New Roman"/>
            </a:endParaRPr>
          </a:p>
        </p:txBody>
      </p:sp>
      <p:sp>
        <p:nvSpPr>
          <p:cNvPr id="117" name="Google Shape;117;p2"/>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2</a:t>
            </a:fld>
            <a:endParaRPr/>
          </a:p>
        </p:txBody>
      </p:sp>
      <p:sp>
        <p:nvSpPr>
          <p:cNvPr id="118" name="Google Shape;118;p2"/>
          <p:cNvSpPr txBox="1"/>
          <p:nvPr/>
        </p:nvSpPr>
        <p:spPr>
          <a:xfrm>
            <a:off x="799641" y="1271071"/>
            <a:ext cx="7772400" cy="1224479"/>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500"/>
              <a:buFont typeface="Arial"/>
              <a:buNone/>
            </a:pPr>
            <a:endParaRPr sz="2500" b="1" i="0" u="none" strike="noStrike" cap="none" dirty="0">
              <a:solidFill>
                <a:srgbClr val="414141"/>
              </a:solidFill>
              <a:latin typeface="Arial"/>
              <a:ea typeface="Arial"/>
              <a:cs typeface="Arial"/>
              <a:sym typeface="Arial"/>
            </a:endParaRPr>
          </a:p>
        </p:txBody>
      </p:sp>
      <p:sp>
        <p:nvSpPr>
          <p:cNvPr id="119" name="Google Shape;119;p2"/>
          <p:cNvSpPr txBox="1">
            <a:spLocks noGrp="1"/>
          </p:cNvSpPr>
          <p:nvPr>
            <p:ph type="body" idx="1"/>
          </p:nvPr>
        </p:nvSpPr>
        <p:spPr>
          <a:xfrm>
            <a:off x="342450" y="1013088"/>
            <a:ext cx="8229600" cy="3703200"/>
          </a:xfrm>
          <a:prstGeom prst="rect">
            <a:avLst/>
          </a:prstGeom>
          <a:noFill/>
          <a:ln>
            <a:noFill/>
          </a:ln>
        </p:spPr>
        <p:txBody>
          <a:bodyPr spcFirstLastPara="1" wrap="square" lIns="91425" tIns="45700" rIns="91425" bIns="45700" anchor="t" anchorCtr="0">
            <a:normAutofit/>
          </a:bodyPr>
          <a:lstStyle/>
          <a:p>
            <a:pPr marL="274320" lvl="0" indent="-148844" algn="l" rtl="0">
              <a:lnSpc>
                <a:spcPct val="100000"/>
              </a:lnSpc>
              <a:spcBef>
                <a:spcPts val="0"/>
              </a:spcBef>
              <a:spcAft>
                <a:spcPts val="0"/>
              </a:spcAft>
              <a:buSzPts val="1976"/>
              <a:buNone/>
            </a:pPr>
            <a:endParaRPr dirty="0">
              <a:latin typeface="Times New Roman"/>
              <a:ea typeface="Times New Roman"/>
              <a:cs typeface="Times New Roman"/>
              <a:sym typeface="Times New Roman"/>
            </a:endParaRPr>
          </a:p>
          <a:p>
            <a:pPr marL="274320" lvl="0" indent="-148844" algn="l" rtl="0">
              <a:lnSpc>
                <a:spcPct val="100000"/>
              </a:lnSpc>
              <a:spcBef>
                <a:spcPts val="600"/>
              </a:spcBef>
              <a:spcAft>
                <a:spcPts val="0"/>
              </a:spcAft>
              <a:buSzPts val="1976"/>
              <a:buNone/>
            </a:pPr>
            <a:endParaRPr dirty="0">
              <a:latin typeface="Times New Roman"/>
              <a:ea typeface="Times New Roman"/>
              <a:cs typeface="Times New Roman"/>
              <a:sym typeface="Times New Roman"/>
            </a:endParaRPr>
          </a:p>
          <a:p>
            <a:pPr marL="0" lvl="0" indent="0" algn="l" rtl="0">
              <a:lnSpc>
                <a:spcPct val="100000"/>
              </a:lnSpc>
              <a:spcBef>
                <a:spcPts val="600"/>
              </a:spcBef>
              <a:spcAft>
                <a:spcPts val="0"/>
              </a:spcAft>
              <a:buSzPts val="1976"/>
              <a:buNone/>
            </a:pPr>
            <a:r>
              <a:rPr lang="en-US" dirty="0">
                <a:latin typeface="Times New Roman"/>
                <a:ea typeface="Times New Roman"/>
                <a:cs typeface="Times New Roman"/>
                <a:sym typeface="Times New Roman"/>
              </a:rPr>
              <a:t>      </a:t>
            </a:r>
            <a:endParaRPr lang="en-IN" dirty="0"/>
          </a:p>
          <a:p>
            <a:pPr marL="0" lvl="0" indent="0" algn="l" rtl="0">
              <a:lnSpc>
                <a:spcPct val="100000"/>
              </a:lnSpc>
              <a:spcBef>
                <a:spcPts val="600"/>
              </a:spcBef>
              <a:spcAft>
                <a:spcPts val="0"/>
              </a:spcAft>
              <a:buSzPts val="1368"/>
              <a:buNone/>
            </a:pPr>
            <a:r>
              <a:rPr lang="en-IN" dirty="0">
                <a:latin typeface="Times New Roman"/>
                <a:ea typeface="Times New Roman"/>
                <a:cs typeface="Times New Roman"/>
                <a:sym typeface="Times New Roman"/>
              </a:rPr>
              <a:t>            </a:t>
            </a:r>
            <a:r>
              <a:rPr lang="en-IN" b="1" dirty="0">
                <a:latin typeface="Times New Roman"/>
                <a:ea typeface="Times New Roman"/>
                <a:cs typeface="Times New Roman"/>
                <a:sym typeface="Times New Roman"/>
              </a:rPr>
              <a:t>        </a:t>
            </a:r>
            <a:endParaRPr lang="en-IN" dirty="0"/>
          </a:p>
          <a:p>
            <a:pPr marL="0" lvl="0" indent="0" algn="l" rtl="0">
              <a:lnSpc>
                <a:spcPct val="100000"/>
              </a:lnSpc>
              <a:spcBef>
                <a:spcPts val="600"/>
              </a:spcBef>
              <a:spcAft>
                <a:spcPts val="0"/>
              </a:spcAft>
              <a:buSzPts val="1368"/>
              <a:buNone/>
            </a:pPr>
            <a:endParaRPr dirty="0">
              <a:latin typeface="Times New Roman"/>
              <a:ea typeface="Times New Roman"/>
              <a:cs typeface="Times New Roman"/>
              <a:sym typeface="Times New Roman"/>
            </a:endParaRPr>
          </a:p>
        </p:txBody>
      </p:sp>
      <p:sp>
        <p:nvSpPr>
          <p:cNvPr id="120" name="Google Shape;120;p2"/>
          <p:cNvSpPr txBox="1"/>
          <p:nvPr/>
        </p:nvSpPr>
        <p:spPr>
          <a:xfrm>
            <a:off x="428228" y="2909712"/>
            <a:ext cx="8515225"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0" i="1"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rPr>
              <a:t>WATER FLOW STIMULATION IN PIPES</a:t>
            </a:r>
            <a:endParaRPr sz="2600" b="0" i="1" u="none" strike="noStrike" cap="none" dirty="0">
              <a:solidFill>
                <a:schemeClr val="dk1"/>
              </a:solidFill>
              <a:latin typeface="Times New Roman" panose="02020603050405020304" pitchFamily="18" charset="0"/>
              <a:ea typeface="Gill Sans"/>
              <a:cs typeface="Times New Roman" panose="02020603050405020304" pitchFamily="18" charset="0"/>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
          <p:cNvSpPr txBox="1">
            <a:spLocks noGrp="1"/>
          </p:cNvSpPr>
          <p:nvPr>
            <p:ph type="title"/>
          </p:nvPr>
        </p:nvSpPr>
        <p:spPr>
          <a:xfrm>
            <a:off x="457200" y="209550"/>
            <a:ext cx="8229600" cy="6096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dk1"/>
                </a:solidFill>
                <a:latin typeface="Times New Roman"/>
                <a:ea typeface="Times New Roman"/>
                <a:cs typeface="Times New Roman"/>
                <a:sym typeface="Times New Roman"/>
              </a:rPr>
              <a:t>ABSTRACT</a:t>
            </a:r>
            <a:endParaRPr lang="en-US" sz="4000" dirty="0">
              <a:solidFill>
                <a:schemeClr val="dk1"/>
              </a:solidFill>
              <a:latin typeface="Times New Roman"/>
              <a:ea typeface="Times New Roman"/>
              <a:cs typeface="Times New Roman"/>
              <a:sym typeface="Times New Roman"/>
            </a:endParaRPr>
          </a:p>
        </p:txBody>
      </p:sp>
      <p:sp>
        <p:nvSpPr>
          <p:cNvPr id="126" name="Google Shape;126;p3"/>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27" name="Google Shape;127;p3"/>
          <p:cNvSpPr txBox="1">
            <a:spLocks noGrp="1"/>
          </p:cNvSpPr>
          <p:nvPr>
            <p:ph type="body" idx="1"/>
          </p:nvPr>
        </p:nvSpPr>
        <p:spPr>
          <a:xfrm>
            <a:off x="278607" y="878681"/>
            <a:ext cx="8229600" cy="3703320"/>
          </a:xfrm>
          <a:prstGeom prst="rect">
            <a:avLst/>
          </a:prstGeom>
          <a:noFill/>
          <a:ln>
            <a:noFill/>
          </a:ln>
        </p:spPr>
        <p:txBody>
          <a:bodyPr spcFirstLastPara="1" wrap="square" lIns="91425" tIns="45700" rIns="91425" bIns="45700" anchor="t" anchorCtr="0">
            <a:normAutofit/>
          </a:bodyPr>
          <a:lstStyle/>
          <a:p>
            <a:pPr indent="0" algn="just">
              <a:spcBef>
                <a:spcPts val="1200"/>
              </a:spcBef>
              <a:buNone/>
            </a:pPr>
            <a:r>
              <a:rPr lang="en-US" sz="1600" dirty="0">
                <a:latin typeface="Times New Roman" panose="02020603050405020304" pitchFamily="18" charset="0"/>
                <a:cs typeface="Times New Roman" panose="02020603050405020304" pitchFamily="18" charset="0"/>
              </a:rPr>
              <a:t>The project presents the design and development of a Simulation of Water Flow in Pipes using Data Structures, focusing on efficient flow analysis and visualization through graph-based techniques. A Graph data structure is used to represent the pipe network, where nodes denote junctions and edges denote pipes. The system follows a role-based approach, where administrators manage the pipe network by adding or deleting connections, while users can run simulations between selected nodes. Dijkstra’s Algorithm is implemented to determine the shortest time path for water flow between nodes. The simulation calculates flow time using parameters such as pipe length and velocity, and visually represents the movement of water through animated interfaces. The system includes a role-based authentication mechanism to ensure secure access and controlled modifications. Additionally, the application integrates real-life use cases such as water supply systems and irrigation. By combining data structures, algorithms, and interactive visualization, the project demonstrates the real-world applicability of computational techniques in fluid flow management systems.</a:t>
            </a:r>
            <a:endParaRPr sz="18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4"/>
          <p:cNvSpPr txBox="1">
            <a:spLocks noGrp="1"/>
          </p:cNvSpPr>
          <p:nvPr>
            <p:ph type="title"/>
          </p:nvPr>
        </p:nvSpPr>
        <p:spPr>
          <a:xfrm>
            <a:off x="685800" y="171450"/>
            <a:ext cx="8001000" cy="495300"/>
          </a:xfrm>
          <a:prstGeom prst="rect">
            <a:avLst/>
          </a:prstGeom>
          <a:solidFill>
            <a:srgbClr val="93B9C3"/>
          </a:solid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dk1"/>
                </a:solidFill>
                <a:latin typeface="Times New Roman"/>
                <a:ea typeface="Times New Roman"/>
                <a:cs typeface="Times New Roman"/>
                <a:sym typeface="Times New Roman"/>
              </a:rPr>
              <a:t>ABSTRACT WITH CO &amp; PO MAPPING</a:t>
            </a:r>
            <a:endParaRPr lang="en-US" sz="4000" b="1" dirty="0">
              <a:solidFill>
                <a:schemeClr val="dk1"/>
              </a:solidFill>
              <a:latin typeface="Times New Roman"/>
              <a:ea typeface="Times New Roman"/>
              <a:cs typeface="Times New Roman"/>
              <a:sym typeface="Times New Roman"/>
            </a:endParaRPr>
          </a:p>
        </p:txBody>
      </p:sp>
      <p:sp>
        <p:nvSpPr>
          <p:cNvPr id="133" name="Google Shape;133;p4"/>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4</a:t>
            </a:fld>
            <a:endParaRPr/>
          </a:p>
        </p:txBody>
      </p:sp>
      <p:sp>
        <p:nvSpPr>
          <p:cNvPr id="134" name="Google Shape;134;p4"/>
          <p:cNvSpPr txBox="1"/>
          <p:nvPr/>
        </p:nvSpPr>
        <p:spPr>
          <a:xfrm>
            <a:off x="799641" y="1271071"/>
            <a:ext cx="7772400" cy="1224479"/>
          </a:xfrm>
          <a:prstGeom prst="rect">
            <a:avLst/>
          </a:prstGeom>
          <a:noFill/>
          <a:ln>
            <a:noFill/>
          </a:ln>
        </p:spPr>
        <p:txBody>
          <a:bodyPr spcFirstLastPara="1" wrap="square" lIns="45700" tIns="45700" rIns="45700" bIns="0" anchor="b" anchorCtr="0">
            <a:noAutofit/>
          </a:bodyPr>
          <a:lstStyle/>
          <a:p>
            <a:pPr marL="0" marR="0" lvl="0" indent="0" algn="ctr" rtl="0">
              <a:lnSpc>
                <a:spcPct val="100000"/>
              </a:lnSpc>
              <a:spcBef>
                <a:spcPts val="0"/>
              </a:spcBef>
              <a:spcAft>
                <a:spcPts val="0"/>
              </a:spcAft>
              <a:buClr>
                <a:srgbClr val="000000"/>
              </a:buClr>
              <a:buSzPts val="2500"/>
              <a:buFont typeface="Arial"/>
              <a:buNone/>
            </a:pPr>
            <a:endParaRPr sz="2500" b="1" i="0" u="none" strike="noStrike" cap="none">
              <a:solidFill>
                <a:srgbClr val="414141"/>
              </a:solidFill>
              <a:latin typeface="Arial"/>
              <a:ea typeface="Arial"/>
              <a:cs typeface="Arial"/>
              <a:sym typeface="Arial"/>
            </a:endParaRPr>
          </a:p>
        </p:txBody>
      </p:sp>
      <p:graphicFrame>
        <p:nvGraphicFramePr>
          <p:cNvPr id="135" name="Google Shape;135;p4"/>
          <p:cNvGraphicFramePr/>
          <p:nvPr>
            <p:extLst>
              <p:ext uri="{D42A27DB-BD31-4B8C-83A1-F6EECF244321}">
                <p14:modId xmlns:p14="http://schemas.microsoft.com/office/powerpoint/2010/main" val="1224992362"/>
              </p:ext>
            </p:extLst>
          </p:nvPr>
        </p:nvGraphicFramePr>
        <p:xfrm>
          <a:off x="606490" y="870650"/>
          <a:ext cx="7965551" cy="3429000"/>
        </p:xfrm>
        <a:graphic>
          <a:graphicData uri="http://schemas.openxmlformats.org/drawingml/2006/table">
            <a:tbl>
              <a:tblPr firstRow="1" bandRow="1">
                <a:noFill/>
                <a:tableStyleId>{A360B54D-2F12-4FEA-B639-18B5B5E1A9AA}</a:tableStyleId>
              </a:tblPr>
              <a:tblGrid>
                <a:gridCol w="5701658">
                  <a:extLst>
                    <a:ext uri="{9D8B030D-6E8A-4147-A177-3AD203B41FA5}">
                      <a16:colId xmlns:a16="http://schemas.microsoft.com/office/drawing/2014/main" val="20000"/>
                    </a:ext>
                  </a:extLst>
                </a:gridCol>
                <a:gridCol w="1176149">
                  <a:extLst>
                    <a:ext uri="{9D8B030D-6E8A-4147-A177-3AD203B41FA5}">
                      <a16:colId xmlns:a16="http://schemas.microsoft.com/office/drawing/2014/main" val="20001"/>
                    </a:ext>
                  </a:extLst>
                </a:gridCol>
                <a:gridCol w="1087744">
                  <a:extLst>
                    <a:ext uri="{9D8B030D-6E8A-4147-A177-3AD203B41FA5}">
                      <a16:colId xmlns:a16="http://schemas.microsoft.com/office/drawing/2014/main" val="20002"/>
                    </a:ext>
                  </a:extLst>
                </a:gridCol>
              </a:tblGrid>
              <a:tr h="4645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Abstract</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Times New Roman" panose="02020603050405020304" pitchFamily="18" charset="0"/>
                          <a:ea typeface="Times New Roman"/>
                          <a:cs typeface="Times New Roman" panose="02020603050405020304" pitchFamily="18" charset="0"/>
                          <a:sym typeface="Times New Roman"/>
                        </a:rPr>
                        <a:t>CO</a:t>
                      </a:r>
                      <a:endParaRPr sz="1800" u="none" strike="noStrike" cap="none">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PO</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extLst>
                  <a:ext uri="{0D108BD9-81ED-4DB2-BD59-A6C34878D82A}">
                    <a16:rowId xmlns:a16="http://schemas.microsoft.com/office/drawing/2014/main" val="10000"/>
                  </a:ext>
                </a:extLst>
              </a:tr>
              <a:tr h="2964450">
                <a:tc>
                  <a:txBody>
                    <a:bodyPr/>
                    <a:lstStyle/>
                    <a:p>
                      <a:pPr marL="457200" marR="0" lvl="0" indent="0" algn="just" defTabSz="914400" rtl="0" eaLnBrk="1" fontAlgn="auto" latinLnBrk="0" hangingPunct="1">
                        <a:lnSpc>
                          <a:spcPct val="100000"/>
                        </a:lnSpc>
                        <a:spcBef>
                          <a:spcPts val="0"/>
                        </a:spcBef>
                        <a:spcAft>
                          <a:spcPts val="0"/>
                        </a:spcAft>
                        <a:buClr>
                          <a:schemeClr val="dk1"/>
                        </a:buClr>
                        <a:buSzPts val="1100"/>
                        <a:buFont typeface="Arial"/>
                        <a:buNone/>
                        <a:tabLst/>
                        <a:defRPr/>
                      </a:pPr>
                      <a:r>
                        <a:rPr lang="en-US" sz="1200" dirty="0">
                          <a:latin typeface="Times New Roman" panose="02020603050405020304" pitchFamily="18" charset="0"/>
                          <a:cs typeface="Times New Roman" panose="02020603050405020304" pitchFamily="18" charset="0"/>
                        </a:rPr>
                        <a:t>The project presents the design and development of a Simulation of Water Flow in Pipes using Data Structures, focusing on efficient flow analysis and visualization through graph-based techniques. A Graph data structure is used to represent the pipe network, where nodes denote junctions and edges denote pipes. The system follows a role-based approach, where administrators manage the pipe network by adding or deleting connections, while users can run simulations between selected nodes. Dijkstra’s Algorithm is implemented to determine the shortest time path for water flow between nodes. The simulation calculates flow time using parameters such as pipe length and velocity, and visually represents the movement of water through animated interfaces. The system includes a role-based authentication mechanism to ensure secure access and controlled modifications. Additionally, the application integrates real-life use cases such as water supply systems and irrigation. By combining data structures, algorithms, and interactive visualization, the project demonstrates the real-world applicability of computational techniques in fluid flow management systems.</a:t>
                      </a:r>
                      <a:endParaRPr sz="11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CO1</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CO2</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CO3</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cs typeface="Times New Roman" panose="02020603050405020304" pitchFamily="18" charset="0"/>
                        </a:rPr>
                        <a:t>CO4</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solidFill>
                      <a:schemeClr val="lt2"/>
                    </a:solidFill>
                  </a:tcPr>
                </a:tc>
                <a:tc>
                  <a:txBody>
                    <a:bodyPr/>
                    <a:lstStyle/>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ea typeface="Arial"/>
                          <a:cs typeface="Times New Roman" panose="02020603050405020304" pitchFamily="18" charset="0"/>
                          <a:sym typeface="Arial"/>
                        </a:rPr>
                        <a:t>PO1</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ea typeface="Arial"/>
                          <a:cs typeface="Times New Roman" panose="02020603050405020304" pitchFamily="18" charset="0"/>
                          <a:sym typeface="Arial"/>
                        </a:rPr>
                        <a:t>PO3</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ea typeface="Arial"/>
                          <a:cs typeface="Times New Roman" panose="02020603050405020304" pitchFamily="18" charset="0"/>
                          <a:sym typeface="Arial"/>
                        </a:rPr>
                        <a:t>PO4</a:t>
                      </a:r>
                    </a:p>
                    <a:p>
                      <a:pPr marL="0" marR="0" lvl="0" indent="0" algn="ctr" rtl="0">
                        <a:lnSpc>
                          <a:spcPct val="100000"/>
                        </a:lnSpc>
                        <a:spcBef>
                          <a:spcPts val="0"/>
                        </a:spcBef>
                        <a:spcAft>
                          <a:spcPts val="0"/>
                        </a:spcAft>
                        <a:buNone/>
                      </a:pPr>
                      <a:r>
                        <a:rPr lang="en-US" sz="1800" u="none" strike="noStrike" cap="none" dirty="0">
                          <a:latin typeface="Times New Roman" panose="02020603050405020304" pitchFamily="18" charset="0"/>
                          <a:ea typeface="Arial"/>
                          <a:cs typeface="Times New Roman" panose="02020603050405020304" pitchFamily="18" charset="0"/>
                          <a:sym typeface="Arial"/>
                        </a:rPr>
                        <a:t>PO5</a:t>
                      </a:r>
                      <a:endParaRPr sz="1800" u="none" strike="noStrike" cap="none" dirty="0">
                        <a:latin typeface="Times New Roman" panose="02020603050405020304" pitchFamily="18" charset="0"/>
                        <a:ea typeface="Arial"/>
                        <a:cs typeface="Times New Roman" panose="02020603050405020304" pitchFamily="18" charset="0"/>
                        <a:sym typeface="Arial"/>
                      </a:endParaRPr>
                    </a:p>
                  </a:txBody>
                  <a:tcPr marL="91450" marR="91450" marT="45725" marB="45725">
                    <a:solidFill>
                      <a:schemeClr val="lt2"/>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title"/>
          </p:nvPr>
        </p:nvSpPr>
        <p:spPr>
          <a:xfrm>
            <a:off x="457200" y="223935"/>
            <a:ext cx="8229600" cy="519015"/>
          </a:xfrm>
          <a:prstGeom prst="rect">
            <a:avLst/>
          </a:prstGeom>
          <a:solidFill>
            <a:srgbClr val="93B9C3"/>
          </a:solid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dk1"/>
              </a:buClr>
              <a:buSzPts val="3200"/>
              <a:buFont typeface="Times New Roman"/>
              <a:buNone/>
            </a:pPr>
            <a:r>
              <a:rPr lang="en-US" sz="3600" b="1" dirty="0">
                <a:solidFill>
                  <a:schemeClr val="dk1"/>
                </a:solidFill>
                <a:latin typeface="Times New Roman"/>
                <a:ea typeface="Times New Roman"/>
                <a:cs typeface="Times New Roman"/>
                <a:sym typeface="Times New Roman"/>
              </a:rPr>
              <a:t>INTRODUCTION</a:t>
            </a:r>
            <a:endParaRPr lang="en-US" sz="4000" b="1" dirty="0">
              <a:solidFill>
                <a:schemeClr val="dk1"/>
              </a:solidFill>
              <a:latin typeface="Times New Roman"/>
              <a:ea typeface="Times New Roman"/>
              <a:cs typeface="Times New Roman"/>
              <a:sym typeface="Times New Roman"/>
            </a:endParaRPr>
          </a:p>
        </p:txBody>
      </p:sp>
      <p:sp>
        <p:nvSpPr>
          <p:cNvPr id="141" name="Google Shape;141;p5"/>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5</a:t>
            </a:fld>
            <a:endParaRPr/>
          </a:p>
        </p:txBody>
      </p:sp>
      <p:sp>
        <p:nvSpPr>
          <p:cNvPr id="142" name="Google Shape;142;p5"/>
          <p:cNvSpPr txBox="1">
            <a:spLocks noGrp="1"/>
          </p:cNvSpPr>
          <p:nvPr>
            <p:ph type="body" idx="1"/>
          </p:nvPr>
        </p:nvSpPr>
        <p:spPr>
          <a:xfrm>
            <a:off x="457200" y="914400"/>
            <a:ext cx="8229600" cy="3703320"/>
          </a:xfrm>
          <a:prstGeom prst="rect">
            <a:avLst/>
          </a:prstGeom>
          <a:noFill/>
          <a:ln>
            <a:noFill/>
          </a:ln>
        </p:spPr>
        <p:txBody>
          <a:bodyPr spcFirstLastPara="1" wrap="square" lIns="91425" tIns="45700" rIns="91425" bIns="45700" anchor="t" anchorCtr="0">
            <a:normAutofit/>
          </a:bodyPr>
          <a:lstStyle/>
          <a:p>
            <a:pPr marL="274320" lvl="0" indent="-197104" algn="just" rtl="0">
              <a:lnSpc>
                <a:spcPct val="100000"/>
              </a:lnSpc>
              <a:spcBef>
                <a:spcPts val="1200"/>
              </a:spcBef>
              <a:spcAft>
                <a:spcPts val="0"/>
              </a:spcAft>
              <a:buSzPts val="1216"/>
              <a:buNone/>
            </a:pPr>
            <a:r>
              <a:rPr lang="en-US" sz="10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sym typeface="Arial"/>
              </a:rPr>
              <a:t>   </a:t>
            </a:r>
            <a:endParaRPr sz="1600" dirty="0">
              <a:latin typeface="Times New Roman" panose="02020603050405020304" pitchFamily="18" charset="0"/>
              <a:ea typeface="Times New Roman"/>
              <a:cs typeface="Times New Roman" panose="02020603050405020304" pitchFamily="18" charset="0"/>
              <a:sym typeface="Times New Roman"/>
            </a:endParaRPr>
          </a:p>
        </p:txBody>
      </p:sp>
      <p:sp>
        <p:nvSpPr>
          <p:cNvPr id="3" name="TextBox 2">
            <a:extLst>
              <a:ext uri="{FF2B5EF4-FFF2-40B4-BE49-F238E27FC236}">
                <a16:creationId xmlns:a16="http://schemas.microsoft.com/office/drawing/2014/main" id="{6E731432-152C-199D-9622-401E73B29B66}"/>
              </a:ext>
            </a:extLst>
          </p:cNvPr>
          <p:cNvSpPr txBox="1"/>
          <p:nvPr/>
        </p:nvSpPr>
        <p:spPr>
          <a:xfrm>
            <a:off x="457201" y="909757"/>
            <a:ext cx="8229600" cy="341632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"Water Flow Simulation in Pipes" project is designed to model and analyze the movement of water through a network of interconnected pipes using Data Structures.</a:t>
            </a:r>
          </a:p>
          <a:p>
            <a:r>
              <a:rPr lang="en-US" sz="1800" dirty="0">
                <a:latin typeface="Times New Roman" panose="02020603050405020304" pitchFamily="18" charset="0"/>
                <a:cs typeface="Times New Roman" panose="02020603050405020304" pitchFamily="18" charset="0"/>
              </a:rPr>
              <a:t>In real-world systems such as water supply networks, irrigation systems, and drainage systems, understanding the flow path and travel time of water is very important.</a:t>
            </a:r>
          </a:p>
          <a:p>
            <a:r>
              <a:rPr lang="en-US" sz="1800" dirty="0">
                <a:latin typeface="Times New Roman" panose="02020603050405020304" pitchFamily="18" charset="0"/>
                <a:cs typeface="Times New Roman" panose="02020603050405020304" pitchFamily="18" charset="0"/>
              </a:rPr>
              <a:t>In this project, a graph-based approach is used where junctions are represented as nodes and pipes are represented as edges. The system calculates the shortest path and minimum time required for water to travel from a source node to a destination node using Dijkstra's </a:t>
            </a:r>
            <a:r>
              <a:rPr lang="en-US" sz="1800" dirty="0" err="1">
                <a:latin typeface="Times New Roman" panose="02020603050405020304" pitchFamily="18" charset="0"/>
                <a:cs typeface="Times New Roman" panose="02020603050405020304" pitchFamily="18" charset="0"/>
              </a:rPr>
              <a:t>Algorithm.The</a:t>
            </a:r>
            <a:r>
              <a:rPr lang="en-US" sz="1800" dirty="0">
                <a:latin typeface="Times New Roman" panose="02020603050405020304" pitchFamily="18" charset="0"/>
                <a:cs typeface="Times New Roman" panose="02020603050405020304" pitchFamily="18" charset="0"/>
              </a:rPr>
              <a:t> system follows a role-based approach where only the Administrator can modify the pipe network by adding or deleting pipe connections, while Users can run simulations between selected </a:t>
            </a:r>
            <a:r>
              <a:rPr lang="en-US" sz="1800" dirty="0" err="1">
                <a:latin typeface="Times New Roman" panose="02020603050405020304" pitchFamily="18" charset="0"/>
                <a:cs typeface="Times New Roman" panose="02020603050405020304" pitchFamily="18" charset="0"/>
              </a:rPr>
              <a:t>nodes.The</a:t>
            </a:r>
            <a:r>
              <a:rPr lang="en-US" sz="1800" dirty="0">
                <a:latin typeface="Times New Roman" panose="02020603050405020304" pitchFamily="18" charset="0"/>
                <a:cs typeface="Times New Roman" panose="02020603050405020304" pitchFamily="18" charset="0"/>
              </a:rPr>
              <a:t> main aim of this project is to demonstrate how Data Structures and Algorithms can be applied to solve real-world engineering problems efficiently.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485950" y="59800"/>
            <a:ext cx="8313300" cy="76260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tx1"/>
                </a:solidFill>
                <a:latin typeface="Times New Roman" panose="02020603050405020304" pitchFamily="18" charset="0"/>
                <a:cs typeface="Times New Roman" panose="02020603050405020304" pitchFamily="18" charset="0"/>
              </a:rPr>
              <a:t>DATA STRUCTURES USED</a:t>
            </a:r>
            <a:endParaRPr lang="en-US"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48" name="Google Shape;148;p6"/>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6</a:t>
            </a:fld>
            <a:endParaRPr/>
          </a:p>
        </p:txBody>
      </p:sp>
      <p:sp>
        <p:nvSpPr>
          <p:cNvPr id="149" name="Google Shape;149;p6"/>
          <p:cNvSpPr txBox="1">
            <a:spLocks noGrp="1"/>
          </p:cNvSpPr>
          <p:nvPr>
            <p:ph type="body" idx="1"/>
          </p:nvPr>
        </p:nvSpPr>
        <p:spPr>
          <a:xfrm>
            <a:off x="485950" y="904600"/>
            <a:ext cx="8429450" cy="40746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600"/>
              </a:spcBef>
              <a:spcAft>
                <a:spcPts val="0"/>
              </a:spcAft>
              <a:buSzPts val="1368"/>
              <a:buNone/>
            </a:pPr>
            <a:r>
              <a:rPr lang="en-US" sz="1800" b="1" dirty="0">
                <a:latin typeface="Times New Roman" panose="02020603050405020304" pitchFamily="18" charset="0"/>
                <a:ea typeface="Arial"/>
                <a:cs typeface="Times New Roman" panose="02020603050405020304" pitchFamily="18" charset="0"/>
                <a:sym typeface="Arial"/>
              </a:rPr>
              <a:t> </a:t>
            </a:r>
            <a:endParaRPr sz="1800" b="1" dirty="0">
              <a:latin typeface="Times New Roman" panose="02020603050405020304" pitchFamily="18" charset="0"/>
              <a:ea typeface="Times New Roman"/>
              <a:cs typeface="Times New Roman" panose="02020603050405020304" pitchFamily="18" charset="0"/>
              <a:sym typeface="Times New Roman"/>
            </a:endParaRPr>
          </a:p>
        </p:txBody>
      </p:sp>
      <p:sp>
        <p:nvSpPr>
          <p:cNvPr id="3" name="TextBox 2">
            <a:extLst>
              <a:ext uri="{FF2B5EF4-FFF2-40B4-BE49-F238E27FC236}">
                <a16:creationId xmlns:a16="http://schemas.microsoft.com/office/drawing/2014/main" id="{CD67B705-491B-32B9-B7F0-0F890280491B}"/>
              </a:ext>
            </a:extLst>
          </p:cNvPr>
          <p:cNvSpPr txBox="1"/>
          <p:nvPr/>
        </p:nvSpPr>
        <p:spPr>
          <a:xfrm>
            <a:off x="485950" y="1340644"/>
            <a:ext cx="7243588" cy="2800767"/>
          </a:xfrm>
          <a:prstGeom prst="rect">
            <a:avLst/>
          </a:prstGeom>
          <a:noFill/>
        </p:spPr>
        <p:txBody>
          <a:bodyPr wrap="square">
            <a:spAutoFit/>
          </a:bodyPr>
          <a:lstStyle/>
          <a:p>
            <a:pPr>
              <a:buFont typeface="+mj-lt"/>
              <a:buAutoNum type="arabicPeriod"/>
            </a:pPr>
            <a:r>
              <a:rPr lang="en-IN" sz="1600" b="1" dirty="0">
                <a:latin typeface="Times New Roman" panose="02020603050405020304" pitchFamily="18" charset="0"/>
                <a:cs typeface="Times New Roman" panose="02020603050405020304" pitchFamily="18" charset="0"/>
              </a:rPr>
              <a:t>Graph (Adjacency List)</a:t>
            </a:r>
            <a:r>
              <a:rPr lang="en-IN" sz="1600" dirty="0">
                <a:latin typeface="Times New Roman" panose="02020603050405020304" pitchFamily="18" charset="0"/>
                <a:cs typeface="Times New Roman" panose="02020603050405020304" pitchFamily="18" charset="0"/>
              </a:rPr>
              <a:t>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Represents the pipe network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Nodes → Junctions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Edges → Pipes </a:t>
            </a:r>
          </a:p>
          <a:p>
            <a:pPr>
              <a:buFont typeface="+mj-lt"/>
              <a:buAutoNum type="arabicPeriod"/>
            </a:pPr>
            <a:r>
              <a:rPr lang="en-IN" sz="1600" b="1" dirty="0">
                <a:latin typeface="Times New Roman" panose="02020603050405020304" pitchFamily="18" charset="0"/>
                <a:cs typeface="Times New Roman" panose="02020603050405020304" pitchFamily="18" charset="0"/>
              </a:rPr>
              <a:t>Priority Queue</a:t>
            </a:r>
            <a:r>
              <a:rPr lang="en-IN" sz="1600" dirty="0">
                <a:latin typeface="Times New Roman" panose="02020603050405020304" pitchFamily="18" charset="0"/>
                <a:cs typeface="Times New Roman" panose="02020603050405020304" pitchFamily="18" charset="0"/>
              </a:rPr>
              <a:t>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Used in Dijkstra’s Algorithm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Helps select the node with minimum distance </a:t>
            </a:r>
          </a:p>
          <a:p>
            <a:pPr>
              <a:buFont typeface="+mj-lt"/>
              <a:buAutoNum type="arabicPeriod"/>
            </a:pPr>
            <a:r>
              <a:rPr lang="en-IN" sz="1600" b="1" dirty="0">
                <a:latin typeface="Times New Roman" panose="02020603050405020304" pitchFamily="18" charset="0"/>
                <a:cs typeface="Times New Roman" panose="02020603050405020304" pitchFamily="18" charset="0"/>
              </a:rPr>
              <a:t>Array</a:t>
            </a:r>
            <a:r>
              <a:rPr lang="en-IN" sz="1600" dirty="0">
                <a:latin typeface="Times New Roman" panose="02020603050405020304" pitchFamily="18" charset="0"/>
                <a:cs typeface="Times New Roman" panose="02020603050405020304" pitchFamily="18" charset="0"/>
              </a:rPr>
              <a:t>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Stores distance values and visited status </a:t>
            </a:r>
          </a:p>
          <a:p>
            <a:pPr>
              <a:buFont typeface="+mj-lt"/>
              <a:buAutoNum type="arabicPeriod"/>
            </a:pPr>
            <a:r>
              <a:rPr lang="en-IN" sz="1600" b="1" dirty="0">
                <a:latin typeface="Times New Roman" panose="02020603050405020304" pitchFamily="18" charset="0"/>
                <a:cs typeface="Times New Roman" panose="02020603050405020304" pitchFamily="18" charset="0"/>
              </a:rPr>
              <a:t>Queue (Optional for BFS visualization)</a:t>
            </a:r>
            <a:r>
              <a:rPr lang="en-IN" sz="1600" dirty="0">
                <a:latin typeface="Times New Roman" panose="02020603050405020304" pitchFamily="18" charset="0"/>
                <a:cs typeface="Times New Roman" panose="02020603050405020304" pitchFamily="18" charset="0"/>
              </a:rPr>
              <a:t> </a:t>
            </a:r>
          </a:p>
          <a:p>
            <a:pPr marL="742950" lvl="1" indent="-285750">
              <a:buFont typeface="+mj-lt"/>
              <a:buAutoNum type="arabicPeriod"/>
            </a:pPr>
            <a:r>
              <a:rPr lang="en-IN" sz="1600" dirty="0">
                <a:latin typeface="Times New Roman" panose="02020603050405020304" pitchFamily="18" charset="0"/>
                <a:cs typeface="Times New Roman" panose="02020603050405020304" pitchFamily="18" charset="0"/>
              </a:rPr>
              <a:t>Used for flow animation or traversal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3200"/>
              <a:buFont typeface="Times New Roman"/>
              <a:buNone/>
            </a:pPr>
            <a:r>
              <a:rPr lang="en-US" b="1" dirty="0">
                <a:solidFill>
                  <a:schemeClr val="tx1"/>
                </a:solidFill>
                <a:latin typeface="Times New Roman" panose="02020603050405020304" pitchFamily="18" charset="0"/>
                <a:cs typeface="Times New Roman" panose="02020603050405020304" pitchFamily="18" charset="0"/>
              </a:rPr>
              <a:t>ADVANTAGES</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7</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Rectangle 2">
            <a:extLst>
              <a:ext uri="{FF2B5EF4-FFF2-40B4-BE49-F238E27FC236}">
                <a16:creationId xmlns:a16="http://schemas.microsoft.com/office/drawing/2014/main" id="{5A0CACE1-7DAD-CD75-C7EE-24A919D9EB3D}"/>
              </a:ext>
            </a:extLst>
          </p:cNvPr>
          <p:cNvSpPr>
            <a:spLocks noChangeArrowheads="1"/>
          </p:cNvSpPr>
          <p:nvPr/>
        </p:nvSpPr>
        <p:spPr bwMode="auto">
          <a:xfrm>
            <a:off x="533400" y="417563"/>
            <a:ext cx="4445448"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calculation of shortest path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simulation of water flow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in planning water distribution systems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manual calculation errors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for large pipe networks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visualization of complex systems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BLOCK DIAGRAM</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8</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8AA7D9A-565A-AF46-2E25-5E4C5E042350}"/>
              </a:ext>
            </a:extLst>
          </p:cNvPr>
          <p:cNvPicPr>
            <a:picLocks noChangeAspect="1"/>
          </p:cNvPicPr>
          <p:nvPr/>
        </p:nvPicPr>
        <p:blipFill>
          <a:blip r:embed="rId3"/>
          <a:stretch>
            <a:fillRect/>
          </a:stretch>
        </p:blipFill>
        <p:spPr>
          <a:xfrm>
            <a:off x="2593848" y="850105"/>
            <a:ext cx="3429000" cy="3917157"/>
          </a:xfrm>
          <a:prstGeom prst="rect">
            <a:avLst/>
          </a:prstGeom>
        </p:spPr>
      </p:pic>
    </p:spTree>
    <p:extLst>
      <p:ext uri="{BB962C8B-B14F-4D97-AF65-F5344CB8AC3E}">
        <p14:creationId xmlns:p14="http://schemas.microsoft.com/office/powerpoint/2010/main" val="1659887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427683" y="59054"/>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BLOCK DIAGRAM - DESCRIPTION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9</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Rectangle 2">
            <a:extLst>
              <a:ext uri="{FF2B5EF4-FFF2-40B4-BE49-F238E27FC236}">
                <a16:creationId xmlns:a16="http://schemas.microsoft.com/office/drawing/2014/main" id="{15E2A054-9188-7331-21D9-78893D4074F0}"/>
              </a:ext>
            </a:extLst>
          </p:cNvPr>
          <p:cNvSpPr>
            <a:spLocks noChangeArrowheads="1"/>
          </p:cNvSpPr>
          <p:nvPr/>
        </p:nvSpPr>
        <p:spPr bwMode="auto">
          <a:xfrm>
            <a:off x="363390" y="920295"/>
            <a:ext cx="729879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User/Admin Login: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Secure authentication to access the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Manages pipe network by adding or deleting connections.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Module: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Selects source and destination nodes to run simulation.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Graph Creation: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Creates the pipe network using nodes and edges.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Flow Simulation: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Calculates water flow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Dijkstra's Algorithm: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Finds the shortest path between selected nodes.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&amp; Visualization: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the shortest path and simulation results </a:t>
            </a:r>
          </a:p>
        </p:txBody>
      </p:sp>
    </p:spTree>
    <p:extLst>
      <p:ext uri="{BB962C8B-B14F-4D97-AF65-F5344CB8AC3E}">
        <p14:creationId xmlns:p14="http://schemas.microsoft.com/office/powerpoint/2010/main" val="3454390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LIST OF MODULES</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10</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862015DB-A683-ABDC-FB71-6339D6E50122}"/>
              </a:ext>
            </a:extLst>
          </p:cNvPr>
          <p:cNvSpPr>
            <a:spLocks noChangeArrowheads="1"/>
          </p:cNvSpPr>
          <p:nvPr/>
        </p:nvSpPr>
        <p:spPr bwMode="auto">
          <a:xfrm>
            <a:off x="334042" y="561619"/>
            <a:ext cx="264367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Authentication Module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Module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Module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Graph Creation Module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Path Finding Module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Flow Simulation Module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 Module </a:t>
            </a:r>
          </a:p>
        </p:txBody>
      </p:sp>
    </p:spTree>
    <p:extLst>
      <p:ext uri="{BB962C8B-B14F-4D97-AF65-F5344CB8AC3E}">
        <p14:creationId xmlns:p14="http://schemas.microsoft.com/office/powerpoint/2010/main" val="3858623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MODULE DESCRIPTION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11</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Rectangle 2">
            <a:extLst>
              <a:ext uri="{FF2B5EF4-FFF2-40B4-BE49-F238E27FC236}">
                <a16:creationId xmlns:a16="http://schemas.microsoft.com/office/drawing/2014/main" id="{2A332BF8-AE9E-32AF-2235-9158071B5E1B}"/>
              </a:ext>
            </a:extLst>
          </p:cNvPr>
          <p:cNvSpPr>
            <a:spLocks noChangeArrowheads="1"/>
          </p:cNvSpPr>
          <p:nvPr/>
        </p:nvSpPr>
        <p:spPr bwMode="auto">
          <a:xfrm>
            <a:off x="317521" y="674431"/>
            <a:ext cx="536495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latin typeface="Times New Roman" panose="02020603050405020304" pitchFamily="18" charset="0"/>
                <a:cs typeface="Times New Roman" panose="02020603050405020304" pitchFamily="18" charset="0"/>
              </a:rPr>
              <a:t>1. Authentication Module</a:t>
            </a:r>
          </a:p>
          <a:p>
            <a:r>
              <a:rPr lang="en-IN" sz="1800" dirty="0">
                <a:latin typeface="Times New Roman" panose="02020603050405020304" pitchFamily="18" charset="0"/>
                <a:cs typeface="Times New Roman" panose="02020603050405020304" pitchFamily="18" charset="0"/>
              </a:rPr>
              <a:t>Handles User Registration and Login </a:t>
            </a:r>
          </a:p>
          <a:p>
            <a:r>
              <a:rPr lang="en-IN" sz="1800" dirty="0">
                <a:latin typeface="Times New Roman" panose="02020603050405020304" pitchFamily="18" charset="0"/>
                <a:cs typeface="Times New Roman" panose="02020603050405020304" pitchFamily="18" charset="0"/>
              </a:rPr>
              <a:t>Provides Secure Access Control </a:t>
            </a:r>
          </a:p>
          <a:p>
            <a:r>
              <a:rPr lang="en-IN" sz="1800" b="1" dirty="0">
                <a:latin typeface="Times New Roman" panose="02020603050405020304" pitchFamily="18" charset="0"/>
                <a:cs typeface="Times New Roman" panose="02020603050405020304" pitchFamily="18" charset="0"/>
              </a:rPr>
              <a:t>2. Admin Module</a:t>
            </a:r>
          </a:p>
          <a:p>
            <a:r>
              <a:rPr lang="en-IN" sz="1800" dirty="0">
                <a:latin typeface="Times New Roman" panose="02020603050405020304" pitchFamily="18" charset="0"/>
                <a:cs typeface="Times New Roman" panose="02020603050405020304" pitchFamily="18" charset="0"/>
              </a:rPr>
              <a:t>Add Pipe Connections </a:t>
            </a:r>
          </a:p>
          <a:p>
            <a:r>
              <a:rPr lang="en-IN" sz="1800" dirty="0">
                <a:latin typeface="Times New Roman" panose="02020603050405020304" pitchFamily="18" charset="0"/>
                <a:cs typeface="Times New Roman" panose="02020603050405020304" pitchFamily="18" charset="0"/>
              </a:rPr>
              <a:t>Delete Pipe Connections </a:t>
            </a:r>
          </a:p>
          <a:p>
            <a:r>
              <a:rPr lang="en-IN" sz="1800" dirty="0">
                <a:latin typeface="Times New Roman" panose="02020603050405020304" pitchFamily="18" charset="0"/>
                <a:cs typeface="Times New Roman" panose="02020603050405020304" pitchFamily="18" charset="0"/>
              </a:rPr>
              <a:t>Update Network Information </a:t>
            </a:r>
          </a:p>
          <a:p>
            <a:r>
              <a:rPr lang="en-IN" sz="1800" dirty="0">
                <a:latin typeface="Times New Roman" panose="02020603050405020304" pitchFamily="18" charset="0"/>
                <a:cs typeface="Times New Roman" panose="02020603050405020304" pitchFamily="18" charset="0"/>
              </a:rPr>
              <a:t>View Complete Pipe Network </a:t>
            </a:r>
          </a:p>
          <a:p>
            <a:r>
              <a:rPr lang="en-IN" sz="1800" b="1" dirty="0">
                <a:latin typeface="Times New Roman" panose="02020603050405020304" pitchFamily="18" charset="0"/>
                <a:cs typeface="Times New Roman" panose="02020603050405020304" pitchFamily="18" charset="0"/>
              </a:rPr>
              <a:t>3. User Module</a:t>
            </a:r>
          </a:p>
          <a:p>
            <a:r>
              <a:rPr lang="en-IN" sz="1800" dirty="0">
                <a:latin typeface="Times New Roman" panose="02020603050405020304" pitchFamily="18" charset="0"/>
                <a:cs typeface="Times New Roman" panose="02020603050405020304" pitchFamily="18" charset="0"/>
              </a:rPr>
              <a:t>Select Source Node </a:t>
            </a:r>
          </a:p>
          <a:p>
            <a:r>
              <a:rPr lang="en-IN" sz="1800" dirty="0">
                <a:latin typeface="Times New Roman" panose="02020603050405020304" pitchFamily="18" charset="0"/>
                <a:cs typeface="Times New Roman" panose="02020603050405020304" pitchFamily="18" charset="0"/>
              </a:rPr>
              <a:t>Select Destination Node </a:t>
            </a:r>
          </a:p>
          <a:p>
            <a:r>
              <a:rPr lang="en-IN" sz="1800" dirty="0">
                <a:latin typeface="Times New Roman" panose="02020603050405020304" pitchFamily="18" charset="0"/>
                <a:cs typeface="Times New Roman" panose="02020603050405020304" pitchFamily="18" charset="0"/>
              </a:rPr>
              <a:t>Execute Water Flow Simulation </a:t>
            </a:r>
          </a:p>
          <a:p>
            <a:r>
              <a:rPr lang="en-IN" sz="1800" b="1" dirty="0">
                <a:latin typeface="Times New Roman" panose="02020603050405020304" pitchFamily="18" charset="0"/>
                <a:cs typeface="Times New Roman" panose="02020603050405020304" pitchFamily="18" charset="0"/>
              </a:rPr>
              <a:t>4. Graph Creation Module</a:t>
            </a:r>
          </a:p>
          <a:p>
            <a:r>
              <a:rPr lang="en-IN" sz="1800" dirty="0">
                <a:latin typeface="Times New Roman" panose="02020603050405020304" pitchFamily="18" charset="0"/>
                <a:cs typeface="Times New Roman" panose="02020603050405020304" pitchFamily="18" charset="0"/>
              </a:rPr>
              <a:t>Creates Nodes and Edges </a:t>
            </a:r>
          </a:p>
          <a:p>
            <a:r>
              <a:rPr lang="en-IN" sz="1800" dirty="0">
                <a:latin typeface="Times New Roman" panose="02020603050405020304" pitchFamily="18" charset="0"/>
                <a:cs typeface="Times New Roman" panose="02020603050405020304" pitchFamily="18" charset="0"/>
              </a:rPr>
              <a:t>Stores Pipe Network using Adjacency List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5840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MODULE DESCRIPTION(CONT…)</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12</a:t>
            </a:fld>
            <a:endParaRPr/>
          </a:p>
        </p:txBody>
      </p:sp>
      <p:sp>
        <p:nvSpPr>
          <p:cNvPr id="157" name="Google Shape;157;p7"/>
          <p:cNvSpPr txBox="1"/>
          <p:nvPr/>
        </p:nvSpPr>
        <p:spPr>
          <a:xfrm>
            <a:off x="-50006"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83D3B10A-AECE-5666-CC10-847C705E73D0}"/>
              </a:ext>
            </a:extLst>
          </p:cNvPr>
          <p:cNvSpPr>
            <a:spLocks noChangeArrowheads="1"/>
          </p:cNvSpPr>
          <p:nvPr/>
        </p:nvSpPr>
        <p:spPr bwMode="auto">
          <a:xfrm>
            <a:off x="381000" y="731194"/>
            <a:ext cx="362791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1800" b="1" dirty="0">
                <a:latin typeface="Times New Roman" panose="02020603050405020304" pitchFamily="18" charset="0"/>
                <a:cs typeface="Times New Roman" panose="02020603050405020304" pitchFamily="18" charset="0"/>
              </a:rPr>
              <a:t>5.Path Finding Module</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Implements Dijkstra's Algorithm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Determines Shortest Path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Calculates Minimum Distance </a:t>
            </a:r>
          </a:p>
          <a:p>
            <a:r>
              <a:rPr lang="en-IN" sz="1800" b="1" dirty="0">
                <a:latin typeface="Times New Roman" panose="02020603050405020304" pitchFamily="18" charset="0"/>
                <a:cs typeface="Times New Roman" panose="02020603050405020304" pitchFamily="18" charset="0"/>
              </a:rPr>
              <a:t>6. Flow Simulation Module</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Calculates Water Flow Time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Formula: </a:t>
            </a:r>
          </a:p>
          <a:p>
            <a:r>
              <a:rPr lang="en-IN" sz="1800" b="1" dirty="0">
                <a:latin typeface="Times New Roman" panose="02020603050405020304" pitchFamily="18" charset="0"/>
                <a:cs typeface="Times New Roman" panose="02020603050405020304" pitchFamily="18" charset="0"/>
              </a:rPr>
              <a:t>        Time = Distance / Velocity</a:t>
            </a:r>
            <a:endParaRPr lang="en-IN"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Computes Overall Flow Duration </a:t>
            </a:r>
          </a:p>
          <a:p>
            <a:r>
              <a:rPr lang="en-IN" sz="1800" b="1" dirty="0">
                <a:latin typeface="Times New Roman" panose="02020603050405020304" pitchFamily="18" charset="0"/>
                <a:cs typeface="Times New Roman" panose="02020603050405020304" pitchFamily="18" charset="0"/>
              </a:rPr>
              <a:t>7. Visualization Module</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Displays Shortest Path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Shows Water Flow Animation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Displays Simulation Results</a:t>
            </a:r>
          </a:p>
        </p:txBody>
      </p:sp>
    </p:spTree>
    <p:extLst>
      <p:ext uri="{BB962C8B-B14F-4D97-AF65-F5344CB8AC3E}">
        <p14:creationId xmlns:p14="http://schemas.microsoft.com/office/powerpoint/2010/main" val="2589493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RESULTS AND DISCUSSION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13</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 name="Rectangle 2">
            <a:extLst>
              <a:ext uri="{FF2B5EF4-FFF2-40B4-BE49-F238E27FC236}">
                <a16:creationId xmlns:a16="http://schemas.microsoft.com/office/drawing/2014/main" id="{BF0B8BC7-19E3-A42C-8F50-E8DFDDA9915D}"/>
              </a:ext>
            </a:extLst>
          </p:cNvPr>
          <p:cNvSpPr>
            <a:spLocks noChangeArrowheads="1"/>
          </p:cNvSpPr>
          <p:nvPr/>
        </p:nvSpPr>
        <p:spPr bwMode="auto">
          <a:xfrm>
            <a:off x="264319" y="580623"/>
            <a:ext cx="683712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Role-Based Access improves security.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Unauthorized users cannot modify network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Graph representation efficiently models pipe systems.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be extended to real-world water distribution networks.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Dijkstra's Algorithm ensures optimal route selection. </a:t>
            </a:r>
          </a:p>
        </p:txBody>
      </p:sp>
    </p:spTree>
    <p:extLst>
      <p:ext uri="{BB962C8B-B14F-4D97-AF65-F5344CB8AC3E}">
        <p14:creationId xmlns:p14="http://schemas.microsoft.com/office/powerpoint/2010/main" val="2162004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RESULTS AND DISCUSSION(CONT…)</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14</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771824F0-6300-3B97-B63E-7A769EC9B4DB}"/>
              </a:ext>
            </a:extLst>
          </p:cNvPr>
          <p:cNvSpPr>
            <a:spLocks noChangeArrowheads="1"/>
          </p:cNvSpPr>
          <p:nvPr/>
        </p:nvSpPr>
        <p:spPr bwMode="auto">
          <a:xfrm>
            <a:off x="381000" y="115121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DC4428F1-3AE3-1411-9A89-F1E4C22FC2FD}"/>
              </a:ext>
            </a:extLst>
          </p:cNvPr>
          <p:cNvPicPr>
            <a:picLocks noChangeAspect="1"/>
          </p:cNvPicPr>
          <p:nvPr/>
        </p:nvPicPr>
        <p:blipFill>
          <a:blip r:embed="rId3"/>
          <a:stretch>
            <a:fillRect/>
          </a:stretch>
        </p:blipFill>
        <p:spPr>
          <a:xfrm>
            <a:off x="1150144" y="1305244"/>
            <a:ext cx="6393656" cy="2899725"/>
          </a:xfrm>
          <a:prstGeom prst="rect">
            <a:avLst/>
          </a:prstGeom>
        </p:spPr>
      </p:pic>
    </p:spTree>
    <p:extLst>
      <p:ext uri="{BB962C8B-B14F-4D97-AF65-F5344CB8AC3E}">
        <p14:creationId xmlns:p14="http://schemas.microsoft.com/office/powerpoint/2010/main" val="1990011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CONCLUSION</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15</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BDA784A6-1BCD-5006-3BE6-8FB95F31B1E6}"/>
              </a:ext>
            </a:extLst>
          </p:cNvPr>
          <p:cNvSpPr txBox="1"/>
          <p:nvPr/>
        </p:nvSpPr>
        <p:spPr>
          <a:xfrm>
            <a:off x="381000" y="1078706"/>
            <a:ext cx="8229600" cy="181588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project demonstrates the practical application of Data Structures and Algorithms in water flow management systems.</a:t>
            </a:r>
          </a:p>
          <a:p>
            <a:r>
              <a:rPr lang="en-US" dirty="0">
                <a:latin typeface="Times New Roman" panose="02020603050405020304" pitchFamily="18" charset="0"/>
                <a:cs typeface="Times New Roman" panose="02020603050405020304" pitchFamily="18" charset="0"/>
              </a:rPr>
              <a:t>The pipe network is represented using Graphs, while Dijkstra's Algorithm is used to determine the shortest path and minimum travel time.</a:t>
            </a:r>
          </a:p>
          <a:p>
            <a:r>
              <a:rPr lang="en-US" dirty="0">
                <a:latin typeface="Times New Roman" panose="02020603050405020304" pitchFamily="18" charset="0"/>
                <a:cs typeface="Times New Roman" panose="02020603050405020304" pitchFamily="18" charset="0"/>
              </a:rPr>
              <a:t>The role-based architecture allows Administrators to manage the network and Users to perform simulations, improving security and usability.</a:t>
            </a:r>
          </a:p>
          <a:p>
            <a:r>
              <a:rPr lang="en-US" dirty="0">
                <a:latin typeface="Times New Roman" panose="02020603050405020304" pitchFamily="18" charset="0"/>
                <a:cs typeface="Times New Roman" panose="02020603050405020304" pitchFamily="18" charset="0"/>
              </a:rPr>
              <a:t>Future enhancements can include real-time sensor integration, pressure calculations, and advanced industrial-level simulations.</a:t>
            </a:r>
          </a:p>
        </p:txBody>
      </p:sp>
    </p:spTree>
    <p:extLst>
      <p:ext uri="{BB962C8B-B14F-4D97-AF65-F5344CB8AC3E}">
        <p14:creationId xmlns:p14="http://schemas.microsoft.com/office/powerpoint/2010/main" val="3875245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381000" y="0"/>
            <a:ext cx="8229600" cy="742950"/>
          </a:xfrm>
          <a:prstGeom prst="rect">
            <a:avLst/>
          </a:prstGeom>
          <a:solidFill>
            <a:srgbClr val="93B9C3"/>
          </a:solidFill>
          <a:ln>
            <a:noFill/>
          </a:ln>
        </p:spPr>
        <p:txBody>
          <a:bodyPr spcFirstLastPara="1" wrap="square" lIns="91425" tIns="45700" rIns="91425" bIns="45700" anchor="b" anchorCtr="0">
            <a:normAutofit/>
          </a:bodyPr>
          <a:lstStyle/>
          <a:p>
            <a:pPr lvl="0" algn="ctr">
              <a:buClr>
                <a:schemeClr val="dk1"/>
              </a:buClr>
              <a:buSzPts val="3200"/>
            </a:pPr>
            <a:r>
              <a:rPr lang="en-US" b="1" dirty="0">
                <a:solidFill>
                  <a:schemeClr val="tx1"/>
                </a:solidFill>
                <a:latin typeface="Times New Roman" panose="02020603050405020304" pitchFamily="18" charset="0"/>
                <a:cs typeface="Times New Roman" panose="02020603050405020304" pitchFamily="18" charset="0"/>
              </a:rPr>
              <a:t>REFERENCES</a:t>
            </a:r>
            <a:endParaRPr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155" name="Google Shape;155;p7"/>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16</a:t>
            </a:fld>
            <a:endParaRPr/>
          </a:p>
        </p:txBody>
      </p:sp>
      <p:sp>
        <p:nvSpPr>
          <p:cNvPr id="157" name="Google Shape;157;p7"/>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BBAF27D7-D0D6-E8A7-47B4-9BDFCB9D4216}"/>
              </a:ext>
            </a:extLst>
          </p:cNvPr>
          <p:cNvSpPr>
            <a:spLocks noChangeArrowheads="1"/>
          </p:cNvSpPr>
          <p:nvPr/>
        </p:nvSpPr>
        <p:spPr bwMode="auto">
          <a:xfrm>
            <a:off x="381000" y="480248"/>
            <a:ext cx="4984057" cy="2397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Structures by Seymour Lipschutz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to Algorithms by Thomas H.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Cormen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GeeksforGeeks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www.geeksforgeeks.org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W3Schools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www.w3schools.com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papers on water distribution systems </a:t>
            </a:r>
          </a:p>
        </p:txBody>
      </p:sp>
    </p:spTree>
    <p:extLst>
      <p:ext uri="{BB962C8B-B14F-4D97-AF65-F5344CB8AC3E}">
        <p14:creationId xmlns:p14="http://schemas.microsoft.com/office/powerpoint/2010/main" val="1446395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1"/>
          <p:cNvSpPr txBox="1">
            <a:spLocks noGrp="1"/>
          </p:cNvSpPr>
          <p:nvPr>
            <p:ph type="title"/>
          </p:nvPr>
        </p:nvSpPr>
        <p:spPr>
          <a:xfrm>
            <a:off x="457200" y="1940776"/>
            <a:ext cx="8229600" cy="685800"/>
          </a:xfrm>
          <a:prstGeom prst="rect">
            <a:avLst/>
          </a:prstGeom>
          <a:solidFill>
            <a:srgbClr val="93B9C3"/>
          </a:solid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dk1"/>
              </a:buClr>
              <a:buSzPct val="100000"/>
              <a:buFont typeface="Times New Roman"/>
              <a:buNone/>
            </a:pPr>
            <a:r>
              <a:rPr lang="en-US" sz="4400" b="1" dirty="0">
                <a:solidFill>
                  <a:schemeClr val="dk1"/>
                </a:solidFill>
                <a:latin typeface="Times New Roman"/>
                <a:ea typeface="Times New Roman"/>
                <a:cs typeface="Times New Roman"/>
                <a:sym typeface="Times New Roman"/>
              </a:rPr>
              <a:t>Thank You!!</a:t>
            </a:r>
            <a:endParaRPr sz="4000" b="1" dirty="0">
              <a:solidFill>
                <a:schemeClr val="dk1"/>
              </a:solidFill>
              <a:latin typeface="Times New Roman"/>
              <a:ea typeface="Times New Roman"/>
              <a:cs typeface="Times New Roman"/>
              <a:sym typeface="Times New Roman"/>
            </a:endParaRPr>
          </a:p>
        </p:txBody>
      </p:sp>
      <p:sp>
        <p:nvSpPr>
          <p:cNvPr id="164" name="Google Shape;164;p11"/>
          <p:cNvSpPr txBox="1">
            <a:spLocks noGrp="1"/>
          </p:cNvSpPr>
          <p:nvPr>
            <p:ph type="sldNum" idx="12"/>
          </p:nvPr>
        </p:nvSpPr>
        <p:spPr>
          <a:xfrm>
            <a:off x="612648" y="4767263"/>
            <a:ext cx="1981200" cy="27432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TotalTime>
  <Words>1101</Words>
  <Application>Microsoft Office PowerPoint</Application>
  <PresentationFormat>On-screen Show (16:9)</PresentationFormat>
  <Paragraphs>143</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Gill Sans</vt:lpstr>
      <vt:lpstr>Noto Sans Symbols</vt:lpstr>
      <vt:lpstr>Bookman Old Style</vt:lpstr>
      <vt:lpstr>Times New Roman</vt:lpstr>
      <vt:lpstr>Calibri</vt:lpstr>
      <vt:lpstr>Origin</vt:lpstr>
      <vt:lpstr>MGB1121/ CGB1122/EGB1121 – DATA STRUCTURES PROJECT REVIEW-3</vt:lpstr>
      <vt:lpstr>Project Title</vt:lpstr>
      <vt:lpstr>ABSTRACT</vt:lpstr>
      <vt:lpstr>ABSTRACT WITH CO &amp; PO MAPPING</vt:lpstr>
      <vt:lpstr>INTRODUCTION</vt:lpstr>
      <vt:lpstr>DATA STRUCTURES USED</vt:lpstr>
      <vt:lpstr>ADVANTAGES</vt:lpstr>
      <vt:lpstr>BLOCK DIAGRAM</vt:lpstr>
      <vt:lpstr>BLOCK DIAGRAM - DESCRIPTION</vt:lpstr>
      <vt:lpstr>LIST OF MODULES</vt:lpstr>
      <vt:lpstr>MODULE DESCRIPTION</vt:lpstr>
      <vt:lpstr>MODULE DESCRIPTION(CONT…)</vt:lpstr>
      <vt:lpstr>RESULTS AND DISCUSSION</vt:lpstr>
      <vt:lpstr>RESULTS AND DISCUSSION(CONT…)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MGB1121/ CGB1122/EGB1121 – DATA STRUCTURES PROJECT REVIEW-1</dc:title>
  <dc:creator>Sribharathi</dc:creator>
  <cp:lastModifiedBy>BHARATHI S</cp:lastModifiedBy>
  <cp:revision>15</cp:revision>
  <dcterms:modified xsi:type="dcterms:W3CDTF">2026-06-03T03:43:13Z</dcterms:modified>
</cp:coreProperties>
</file>