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63" r:id="rId18"/>
  </p:sldIdLst>
  <p:sldSz cx="9144000" cy="5143500" type="screen16x9"/>
  <p:notesSz cx="6797675" cy="9926638"/>
  <p:embeddedFontLst>
    <p:embeddedFont>
      <p:font typeface="Bookman Old Style" panose="02050604050505020204" pitchFamily="18" charset="0"/>
      <p:regular r:id="rId20"/>
      <p:bold r:id="rId21"/>
      <p:italic r:id="rId22"/>
      <p:boldItalic r:id="rId23"/>
    </p:embeddedFont>
    <p:embeddedFont>
      <p:font typeface="Gill Sans"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n+YqQNLEODNxukWC+moNNe7rN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60B54D-2F12-4FEA-B639-18B5B5E1A9AA}">
  <a:tblStyle styleId="{A360B54D-2F12-4FEA-B639-18B5B5E1A9AA}"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b="off" i="off"/>
      <a:tcStyle>
        <a:tcBdr/>
        <a:fill>
          <a:solidFill>
            <a:srgbClr val="D4D6E0"/>
          </a:solidFill>
        </a:fill>
      </a:tcStyle>
    </a:band1H>
    <a:band2H>
      <a:tcTxStyle b="off" i="off"/>
      <a:tcStyle>
        <a:tcBdr/>
      </a:tcStyle>
    </a:band2H>
    <a:band1V>
      <a:tcTxStyle b="off" i="off"/>
      <a:tcStyle>
        <a:tcBdr/>
        <a:fill>
          <a:solidFill>
            <a:srgbClr val="D4D6E0"/>
          </a:solidFill>
        </a:fill>
      </a:tcStyle>
    </a:band1V>
    <a:band2V>
      <a:tcTxStyle b="off" i="off"/>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5550" tIns="47775" rIns="95550" bIns="47775"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5300"/>
          </a:xfrm>
          <a:prstGeom prst="rect">
            <a:avLst/>
          </a:prstGeom>
          <a:noFill/>
          <a:ln>
            <a:noFill/>
          </a:ln>
        </p:spPr>
        <p:txBody>
          <a:bodyPr spcFirstLastPara="1" wrap="square" lIns="95550" tIns="47775" rIns="95550" bIns="4777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5300"/>
          </a:xfrm>
          <a:prstGeom prst="rect">
            <a:avLst/>
          </a:prstGeom>
          <a:noFill/>
          <a:ln>
            <a:noFill/>
          </a:ln>
        </p:spPr>
        <p:txBody>
          <a:bodyPr spcFirstLastPara="1" wrap="square" lIns="95550" tIns="47775" rIns="95550" bIns="47775"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82211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07" name="Google Shape;107;p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14" name="Google Shape;114;p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23" name="Google Shape;123;p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0" name="Google Shape;130;p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8" name="Google Shape;138;p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45" name="Google Shape;145;p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61" name="Google Shape;161;p1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3"/>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23" name="Google Shape;23;p13"/>
          <p:cNvSpPr txBox="1">
            <a:spLocks noGrp="1"/>
          </p:cNvSpPr>
          <p:nvPr>
            <p:ph type="body" idx="1"/>
          </p:nvPr>
        </p:nvSpPr>
        <p:spPr>
          <a:xfrm>
            <a:off x="457200" y="914400"/>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24" name="Google Shape;24;p13"/>
          <p:cNvSpPr txBox="1">
            <a:spLocks noGrp="1"/>
          </p:cNvSpPr>
          <p:nvPr>
            <p:ph type="body" idx="2"/>
          </p:nvPr>
        </p:nvSpPr>
        <p:spPr>
          <a:xfrm>
            <a:off x="4632198" y="912114"/>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4"/>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5"/>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6" name="Google Shape;36;p15"/>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16"/>
          <p:cNvSpPr txBox="1">
            <a:spLocks noGrp="1"/>
          </p:cNvSpPr>
          <p:nvPr>
            <p:ph type="ctrTitle"/>
          </p:nvPr>
        </p:nvSpPr>
        <p:spPr>
          <a:xfrm>
            <a:off x="1219200" y="2914650"/>
            <a:ext cx="6858000" cy="7429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ubTitle" idx="1"/>
          </p:nvPr>
        </p:nvSpPr>
        <p:spPr>
          <a:xfrm>
            <a:off x="1219200" y="3843338"/>
            <a:ext cx="6858000" cy="4000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a:endParaRPr/>
          </a:p>
        </p:txBody>
      </p:sp>
      <p:sp>
        <p:nvSpPr>
          <p:cNvPr id="40" name="Google Shape;40;p16"/>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6"/>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sldNum" idx="12"/>
          </p:nvPr>
        </p:nvSpPr>
        <p:spPr>
          <a:xfrm>
            <a:off x="1216152" y="4766310"/>
            <a:ext cx="1219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16"/>
          <p:cNvSpPr/>
          <p:nvPr/>
        </p:nvSpPr>
        <p:spPr>
          <a:xfrm>
            <a:off x="904875" y="2736056"/>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4" name="Google Shape;44;p16"/>
          <p:cNvSpPr/>
          <p:nvPr/>
        </p:nvSpPr>
        <p:spPr>
          <a:xfrm>
            <a:off x="914400" y="3786188"/>
            <a:ext cx="7315200" cy="51435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5" name="Google Shape;45;p16"/>
          <p:cNvSpPr/>
          <p:nvPr/>
        </p:nvSpPr>
        <p:spPr>
          <a:xfrm>
            <a:off x="904875" y="2736056"/>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6" name="Google Shape;46;p16"/>
          <p:cNvSpPr/>
          <p:nvPr/>
        </p:nvSpPr>
        <p:spPr>
          <a:xfrm>
            <a:off x="914400" y="3786188"/>
            <a:ext cx="228600" cy="5143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17"/>
          <p:cNvSpPr txBox="1">
            <a:spLocks noGrp="1"/>
          </p:cNvSpPr>
          <p:nvPr>
            <p:ph type="title"/>
          </p:nvPr>
        </p:nvSpPr>
        <p:spPr>
          <a:xfrm>
            <a:off x="1219200" y="2228850"/>
            <a:ext cx="6858000" cy="8001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2"/>
              </a:buClr>
              <a:buSzPts val="3200"/>
              <a:buFont typeface="Bookman Old Style"/>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body" idx="1"/>
          </p:nvPr>
        </p:nvSpPr>
        <p:spPr>
          <a:xfrm>
            <a:off x="1295400" y="3200400"/>
            <a:ext cx="6781800" cy="85725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600"/>
              </a:spcBef>
              <a:spcAft>
                <a:spcPts val="0"/>
              </a:spcAft>
              <a:buSzPts val="1520"/>
              <a:buNone/>
              <a:defRPr sz="2000">
                <a:solidFill>
                  <a:schemeClr val="lt1"/>
                </a:solidFill>
              </a:defRPr>
            </a:lvl1pPr>
            <a:lvl2pPr marL="914400" lvl="1" indent="-228600" algn="l">
              <a:lnSpc>
                <a:spcPct val="100000"/>
              </a:lnSpc>
              <a:spcBef>
                <a:spcPts val="500"/>
              </a:spcBef>
              <a:spcAft>
                <a:spcPts val="0"/>
              </a:spcAft>
              <a:buSzPts val="1368"/>
              <a:buNone/>
              <a:defRPr sz="1800">
                <a:solidFill>
                  <a:schemeClr val="lt1"/>
                </a:solidFill>
              </a:defRPr>
            </a:lvl2pPr>
            <a:lvl3pPr marL="1371600" lvl="2" indent="-228600" algn="l">
              <a:lnSpc>
                <a:spcPct val="100000"/>
              </a:lnSpc>
              <a:spcBef>
                <a:spcPts val="500"/>
              </a:spcBef>
              <a:spcAft>
                <a:spcPts val="0"/>
              </a:spcAft>
              <a:buSzPts val="1216"/>
              <a:buNone/>
              <a:defRPr sz="1600">
                <a:solidFill>
                  <a:schemeClr val="lt1"/>
                </a:solidFill>
              </a:defRPr>
            </a:lvl3pPr>
            <a:lvl4pPr marL="1828800" lvl="3" indent="-228600" algn="l">
              <a:lnSpc>
                <a:spcPct val="100000"/>
              </a:lnSpc>
              <a:spcBef>
                <a:spcPts val="400"/>
              </a:spcBef>
              <a:spcAft>
                <a:spcPts val="0"/>
              </a:spcAft>
              <a:buSzPts val="980"/>
              <a:buNone/>
              <a:defRPr sz="1400">
                <a:solidFill>
                  <a:schemeClr val="lt1"/>
                </a:solidFill>
              </a:defRPr>
            </a:lvl4pPr>
            <a:lvl5pPr marL="2286000" lvl="4" indent="-228600" algn="l">
              <a:lnSpc>
                <a:spcPct val="100000"/>
              </a:lnSpc>
              <a:spcBef>
                <a:spcPts val="300"/>
              </a:spcBef>
              <a:spcAft>
                <a:spcPts val="0"/>
              </a:spcAft>
              <a:buSzPts val="980"/>
              <a:buNone/>
              <a:defRPr sz="1400">
                <a:solidFill>
                  <a:schemeClr val="lt1"/>
                </a:solidFill>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0" name="Google Shape;50;p17"/>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1069848" y="4766310"/>
            <a:ext cx="1520952"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53" name="Google Shape;53;p17"/>
          <p:cNvSpPr/>
          <p:nvPr/>
        </p:nvSpPr>
        <p:spPr>
          <a:xfrm>
            <a:off x="914400" y="2114550"/>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54" name="Google Shape;54;p17"/>
          <p:cNvSpPr/>
          <p:nvPr/>
        </p:nvSpPr>
        <p:spPr>
          <a:xfrm>
            <a:off x="914400" y="2114550"/>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8"/>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8"/>
          <p:cNvSpPr txBox="1">
            <a:spLocks noGrp="1"/>
          </p:cNvSpPr>
          <p:nvPr>
            <p:ph type="body" idx="1"/>
          </p:nvPr>
        </p:nvSpPr>
        <p:spPr>
          <a:xfrm>
            <a:off x="457200" y="964406"/>
            <a:ext cx="4040188" cy="51435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8" name="Google Shape;58;p18"/>
          <p:cNvSpPr txBox="1">
            <a:spLocks noGrp="1"/>
          </p:cNvSpPr>
          <p:nvPr>
            <p:ph type="body" idx="2"/>
          </p:nvPr>
        </p:nvSpPr>
        <p:spPr>
          <a:xfrm>
            <a:off x="4648201" y="971550"/>
            <a:ext cx="4041775" cy="51435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9" name="Google Shape;59;p1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18"/>
          <p:cNvSpPr txBox="1">
            <a:spLocks noGrp="1"/>
          </p:cNvSpPr>
          <p:nvPr>
            <p:ph type="body" idx="3"/>
          </p:nvPr>
        </p:nvSpPr>
        <p:spPr>
          <a:xfrm>
            <a:off x="457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63" name="Google Shape;63;p18"/>
          <p:cNvSpPr txBox="1">
            <a:spLocks noGrp="1"/>
          </p:cNvSpPr>
          <p:nvPr>
            <p:ph type="body" idx="4"/>
          </p:nvPr>
        </p:nvSpPr>
        <p:spPr>
          <a:xfrm>
            <a:off x="4648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19"/>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19"/>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19"/>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6324600" y="228600"/>
            <a:ext cx="2514600" cy="6286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body" idx="1"/>
          </p:nvPr>
        </p:nvSpPr>
        <p:spPr>
          <a:xfrm>
            <a:off x="6324600" y="914401"/>
            <a:ext cx="2514600" cy="3632597"/>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lnSpc>
                <a:spcPct val="100000"/>
              </a:lnSpc>
              <a:spcBef>
                <a:spcPts val="1000"/>
              </a:spcBef>
              <a:spcAft>
                <a:spcPts val="0"/>
              </a:spcAft>
              <a:buSzPts val="912"/>
              <a:buNone/>
              <a:defRPr sz="1200"/>
            </a:lvl2pPr>
            <a:lvl3pPr marL="1371600" lvl="2" indent="-228600" algn="l">
              <a:lnSpc>
                <a:spcPct val="100000"/>
              </a:lnSpc>
              <a:spcBef>
                <a:spcPts val="500"/>
              </a:spcBef>
              <a:spcAft>
                <a:spcPts val="0"/>
              </a:spcAft>
              <a:buSzPts val="760"/>
              <a:buNone/>
              <a:defRPr sz="1000"/>
            </a:lvl3pPr>
            <a:lvl4pPr marL="1828800" lvl="3" indent="-228600" algn="l">
              <a:lnSpc>
                <a:spcPct val="100000"/>
              </a:lnSpc>
              <a:spcBef>
                <a:spcPts val="400"/>
              </a:spcBef>
              <a:spcAft>
                <a:spcPts val="0"/>
              </a:spcAft>
              <a:buSzPts val="630"/>
              <a:buNone/>
              <a:defRPr sz="900"/>
            </a:lvl4pPr>
            <a:lvl5pPr marL="2286000" lvl="4" indent="-228600" algn="l">
              <a:lnSpc>
                <a:spcPct val="100000"/>
              </a:lnSpc>
              <a:spcBef>
                <a:spcPts val="300"/>
              </a:spcBef>
              <a:spcAft>
                <a:spcPts val="0"/>
              </a:spcAft>
              <a:buSzPts val="630"/>
              <a:buNone/>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73" name="Google Shape;73;p20"/>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0"/>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0"/>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0"/>
          <p:cNvCxnSpPr/>
          <p:nvPr/>
        </p:nvCxnSpPr>
        <p:spPr>
          <a:xfrm rot="5400000">
            <a:off x="3915025" y="2493169"/>
            <a:ext cx="452628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0"/>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79" name="Google Shape;79;p20"/>
          <p:cNvSpPr txBox="1">
            <a:spLocks noGrp="1"/>
          </p:cNvSpPr>
          <p:nvPr>
            <p:ph type="body" idx="2"/>
          </p:nvPr>
        </p:nvSpPr>
        <p:spPr>
          <a:xfrm>
            <a:off x="304800" y="228600"/>
            <a:ext cx="5715000" cy="42862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1"/>
          <p:cNvSpPr txBox="1">
            <a:spLocks noGrp="1"/>
          </p:cNvSpPr>
          <p:nvPr>
            <p:ph type="title"/>
          </p:nvPr>
        </p:nvSpPr>
        <p:spPr>
          <a:xfrm>
            <a:off x="457200" y="375642"/>
            <a:ext cx="8229600" cy="506016"/>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lnSpc>
                <a:spcPct val="100000"/>
              </a:lnSpc>
              <a:spcBef>
                <a:spcPts val="0"/>
              </a:spcBef>
              <a:spcAft>
                <a:spcPts val="0"/>
              </a:spcAft>
              <a:buClr>
                <a:schemeClr val="lt1"/>
              </a:buClr>
              <a:buSzPts val="2000"/>
              <a:buFont typeface="Bookman Old Style"/>
              <a:buNone/>
              <a:defRPr sz="2000" b="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1"/>
          <p:cNvSpPr>
            <a:spLocks noGrp="1"/>
          </p:cNvSpPr>
          <p:nvPr>
            <p:ph type="pic" idx="2"/>
          </p:nvPr>
        </p:nvSpPr>
        <p:spPr>
          <a:xfrm>
            <a:off x="457200" y="1428750"/>
            <a:ext cx="8229600" cy="3202686"/>
          </a:xfrm>
          <a:prstGeom prst="rect">
            <a:avLst/>
          </a:prstGeom>
          <a:solidFill>
            <a:srgbClr val="BABABA"/>
          </a:solidFill>
          <a:ln>
            <a:noFill/>
          </a:ln>
        </p:spPr>
      </p:sp>
      <p:sp>
        <p:nvSpPr>
          <p:cNvPr id="83" name="Google Shape;83;p21"/>
          <p:cNvSpPr txBox="1">
            <a:spLocks noGrp="1"/>
          </p:cNvSpPr>
          <p:nvPr>
            <p:ph type="body" idx="1"/>
          </p:nvPr>
        </p:nvSpPr>
        <p:spPr>
          <a:xfrm>
            <a:off x="457200" y="914400"/>
            <a:ext cx="8229600" cy="40005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600"/>
              </a:spcBef>
              <a:spcAft>
                <a:spcPts val="0"/>
              </a:spcAft>
              <a:buSzPts val="1064"/>
              <a:buFont typeface="Gill Sans"/>
              <a:buNone/>
              <a:defRPr sz="1400"/>
            </a:lvl1pPr>
            <a:lvl2pPr marL="914400" lvl="1" indent="-286512" algn="l">
              <a:lnSpc>
                <a:spcPct val="100000"/>
              </a:lnSpc>
              <a:spcBef>
                <a:spcPts val="500"/>
              </a:spcBef>
              <a:spcAft>
                <a:spcPts val="0"/>
              </a:spcAft>
              <a:buSzPts val="912"/>
              <a:buChar char="?"/>
              <a:defRPr sz="1200"/>
            </a:lvl2pPr>
            <a:lvl3pPr marL="1371600" lvl="2" indent="-276860" algn="l">
              <a:lnSpc>
                <a:spcPct val="100000"/>
              </a:lnSpc>
              <a:spcBef>
                <a:spcPts val="500"/>
              </a:spcBef>
              <a:spcAft>
                <a:spcPts val="0"/>
              </a:spcAft>
              <a:buSzPts val="760"/>
              <a:buChar char="?"/>
              <a:defRPr sz="1000"/>
            </a:lvl3pPr>
            <a:lvl4pPr marL="1828800" lvl="3" indent="-268605" algn="l">
              <a:lnSpc>
                <a:spcPct val="100000"/>
              </a:lnSpc>
              <a:spcBef>
                <a:spcPts val="400"/>
              </a:spcBef>
              <a:spcAft>
                <a:spcPts val="0"/>
              </a:spcAft>
              <a:buSzPts val="630"/>
              <a:buChar char="◻"/>
              <a:defRPr sz="900"/>
            </a:lvl4pPr>
            <a:lvl5pPr marL="2286000" lvl="4" indent="-268604" algn="l">
              <a:lnSpc>
                <a:spcPct val="100000"/>
              </a:lnSpc>
              <a:spcBef>
                <a:spcPts val="300"/>
              </a:spcBef>
              <a:spcAft>
                <a:spcPts val="0"/>
              </a:spcAft>
              <a:buSzPts val="630"/>
              <a:buChar char="◻"/>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84" name="Google Shape;84;p21"/>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1"/>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21"/>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21"/>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9" name="Google Shape;89;p21"/>
          <p:cNvSpPr/>
          <p:nvPr/>
        </p:nvSpPr>
        <p:spPr>
          <a:xfrm>
            <a:off x="457200" y="375642"/>
            <a:ext cx="182880" cy="5143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2"/>
          <p:cNvSpPr txBox="1">
            <a:spLocks noGrp="1"/>
          </p:cNvSpPr>
          <p:nvPr>
            <p:ph type="body" idx="1"/>
          </p:nvPr>
        </p:nvSpPr>
        <p:spPr>
          <a:xfrm rot="5400000">
            <a:off x="2730627" y="-1359027"/>
            <a:ext cx="3682746" cy="82296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3" name="Google Shape;93;p2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3"/>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9" name="Google Shape;99;p2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23"/>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23"/>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cxnSp>
        <p:nvCxnSpPr>
          <p:cNvPr id="104" name="Google Shape;104;p23"/>
          <p:cNvCxnSpPr/>
          <p:nvPr/>
        </p:nvCxnSpPr>
        <p:spPr>
          <a:xfrm rot="5400000">
            <a:off x="4361127" y="2401464"/>
            <a:ext cx="438912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29000"/>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914400"/>
            <a:ext cx="8229600" cy="3682746"/>
          </a:xfrm>
          <a:prstGeom prst="rect">
            <a:avLst/>
          </a:prstGeom>
          <a:noFill/>
          <a:ln>
            <a:noFill/>
          </a:ln>
        </p:spPr>
        <p:txBody>
          <a:bodyPr spcFirstLastPara="1" wrap="square" lIns="91425" tIns="45700" rIns="91425" bIns="45700" anchor="t" anchorCtr="0">
            <a:normAutofit/>
          </a:bodyPr>
          <a:lstStyle>
            <a:lvl1pPr marL="457200" marR="0" lvl="0" indent="-354076" algn="l" rtl="0">
              <a:lnSpc>
                <a:spcPct val="100000"/>
              </a:lnSpc>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lnSpc>
                <a:spcPct val="100000"/>
              </a:lnSpc>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lnSpc>
                <a:spcPct val="100000"/>
              </a:lnSpc>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lnSpc>
                <a:spcPct val="100000"/>
              </a:lnSpc>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lnSpc>
                <a:spcPct val="100000"/>
              </a:lnSpc>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lnSpc>
                <a:spcPct val="100000"/>
              </a:lnSpc>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lnSpc>
                <a:spcPct val="100000"/>
              </a:lnSpc>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lnSpc>
                <a:spcPct val="100000"/>
              </a:lnSpc>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1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2"/>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12"/>
          <p:cNvCxnSpPr/>
          <p:nvPr/>
        </p:nvCxnSpPr>
        <p:spPr>
          <a:xfrm>
            <a:off x="457200" y="85725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12"/>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geeksforgeeks.or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www.w3schools.co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0C8"/>
        </a:solidFill>
        <a:effectLst/>
      </p:bgPr>
    </p:bg>
    <p:spTree>
      <p:nvGrpSpPr>
        <p:cNvPr id="1" name="Shape 108"/>
        <p:cNvGrpSpPr/>
        <p:nvPr/>
      </p:nvGrpSpPr>
      <p:grpSpPr>
        <a:xfrm>
          <a:off x="0" y="0"/>
          <a:ext cx="0" cy="0"/>
          <a:chOff x="0" y="0"/>
          <a:chExt cx="0" cy="0"/>
        </a:xfrm>
      </p:grpSpPr>
      <p:sp>
        <p:nvSpPr>
          <p:cNvPr id="109" name="Google Shape;109;p1"/>
          <p:cNvSpPr txBox="1">
            <a:spLocks noGrp="1"/>
          </p:cNvSpPr>
          <p:nvPr>
            <p:ph type="title"/>
          </p:nvPr>
        </p:nvSpPr>
        <p:spPr>
          <a:xfrm>
            <a:off x="0" y="1"/>
            <a:ext cx="9144000" cy="1052513"/>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2800"/>
              <a:buFont typeface="Times New Roman"/>
              <a:buNone/>
            </a:pPr>
            <a:r>
              <a:rPr lang="en-US" sz="2800" b="1" dirty="0">
                <a:solidFill>
                  <a:schemeClr val="tx1"/>
                </a:solidFill>
                <a:latin typeface="Times New Roman"/>
                <a:ea typeface="Times New Roman"/>
                <a:cs typeface="Times New Roman"/>
                <a:sym typeface="Times New Roman"/>
              </a:rPr>
              <a:t>MGB1121/ CGB1122/EGB1121 – DATA STRUCTURES</a:t>
            </a:r>
            <a:br>
              <a:rPr lang="en-US" sz="2800" b="1" dirty="0">
                <a:solidFill>
                  <a:schemeClr val="tx1"/>
                </a:solidFill>
                <a:latin typeface="Times New Roman"/>
                <a:ea typeface="Times New Roman"/>
                <a:cs typeface="Times New Roman"/>
                <a:sym typeface="Times New Roman"/>
              </a:rPr>
            </a:br>
            <a:r>
              <a:rPr lang="en-US" sz="2800" b="1" dirty="0">
                <a:solidFill>
                  <a:schemeClr val="tx1"/>
                </a:solidFill>
                <a:latin typeface="Times New Roman"/>
                <a:ea typeface="Times New Roman"/>
                <a:cs typeface="Times New Roman"/>
                <a:sym typeface="Times New Roman"/>
              </a:rPr>
              <a:t>PROJECT REVIEW-2</a:t>
            </a:r>
            <a:endParaRPr sz="2800" b="1" dirty="0">
              <a:solidFill>
                <a:schemeClr val="tx1"/>
              </a:solidFill>
              <a:latin typeface="Times New Roman"/>
              <a:ea typeface="Times New Roman"/>
              <a:cs typeface="Times New Roman"/>
              <a:sym typeface="Times New Roman"/>
            </a:endParaRPr>
          </a:p>
        </p:txBody>
      </p:sp>
      <p:sp>
        <p:nvSpPr>
          <p:cNvPr id="110" name="Google Shape;110;p1"/>
          <p:cNvSpPr txBox="1"/>
          <p:nvPr/>
        </p:nvSpPr>
        <p:spPr>
          <a:xfrm>
            <a:off x="916258" y="1278294"/>
            <a:ext cx="8015400" cy="3268422"/>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lang="en-US" sz="2500" b="1" dirty="0">
              <a:solidFill>
                <a:schemeClr val="dk1"/>
              </a:solidFill>
              <a:latin typeface="Times New Roman"/>
              <a:ea typeface="Times New Roman"/>
              <a:cs typeface="Times New Roman"/>
              <a:sym typeface="Times New Roman"/>
            </a:endParaRPr>
          </a:p>
          <a:p>
            <a:pPr algn="ctr">
              <a:buSzPts val="2500"/>
            </a:pPr>
            <a:r>
              <a:rPr lang="en-US" sz="2500" b="1" dirty="0">
                <a:solidFill>
                  <a:schemeClr val="dk1"/>
                </a:solidFill>
                <a:latin typeface="Times New Roman"/>
                <a:ea typeface="Times New Roman"/>
                <a:cs typeface="Times New Roman"/>
                <a:sym typeface="Times New Roman"/>
              </a:rPr>
              <a:t>Academic Year: 2025 – 2026 (Even Semester)</a:t>
            </a:r>
          </a:p>
          <a:p>
            <a:pPr algn="ctr">
              <a:buSzPts val="2500"/>
            </a:pPr>
            <a:endParaRPr sz="2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Register Number</a:t>
            </a:r>
            <a:r>
              <a:rPr lang="en-US" sz="2500" b="1" dirty="0">
                <a:solidFill>
                  <a:schemeClr val="dk1"/>
                </a:solidFill>
                <a:latin typeface="Times New Roman"/>
                <a:ea typeface="Times New Roman"/>
                <a:cs typeface="Times New Roman"/>
                <a:sym typeface="Times New Roman"/>
              </a:rPr>
              <a:t>		:</a:t>
            </a:r>
            <a:r>
              <a:rPr lang="en-US" sz="1600" b="1" dirty="0">
                <a:solidFill>
                  <a:schemeClr val="dk1"/>
                </a:solidFill>
                <a:latin typeface="Times New Roman"/>
                <a:ea typeface="Times New Roman"/>
                <a:cs typeface="Times New Roman"/>
                <a:sym typeface="Times New Roman"/>
              </a:rPr>
              <a:t>927625BSC001,927625BCS138,927625BCS180</a:t>
            </a:r>
          </a:p>
          <a:p>
            <a:pPr marL="0" marR="0" lvl="0" indent="0" algn="l" rtl="0">
              <a:lnSpc>
                <a:spcPct val="100000"/>
              </a:lnSpc>
              <a:spcBef>
                <a:spcPts val="0"/>
              </a:spcBef>
              <a:spcAft>
                <a:spcPts val="0"/>
              </a:spcAft>
              <a:buClr>
                <a:srgbClr val="000000"/>
              </a:buClr>
              <a:buSzPts val="2500"/>
              <a:buFont typeface="Arial"/>
              <a:buNone/>
            </a:pPr>
            <a:r>
              <a:rPr lang="en-US" sz="2500" b="1" dirty="0">
                <a:solidFill>
                  <a:schemeClr val="dk1"/>
                </a:solidFill>
                <a:latin typeface="Times New Roman"/>
                <a:ea typeface="Times New Roman"/>
                <a:cs typeface="Times New Roman"/>
                <a:sym typeface="Times New Roman"/>
              </a:rPr>
              <a:t>Section Roll Number	:</a:t>
            </a:r>
            <a:r>
              <a:rPr lang="en-US" sz="1800" b="1" dirty="0">
                <a:solidFill>
                  <a:schemeClr val="dk1"/>
                </a:solidFill>
                <a:latin typeface="Times New Roman"/>
                <a:ea typeface="Times New Roman"/>
                <a:cs typeface="Times New Roman"/>
                <a:sym typeface="Times New Roman"/>
              </a:rPr>
              <a:t>A601,A649,A662</a:t>
            </a: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Name</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a:t>
            </a:r>
            <a:r>
              <a:rPr lang="en-US" sz="1600" b="1" i="0" u="none" strike="noStrike" cap="none" dirty="0">
                <a:solidFill>
                  <a:schemeClr val="dk1"/>
                </a:solidFill>
                <a:latin typeface="Times New Roman"/>
                <a:ea typeface="Times New Roman"/>
                <a:cs typeface="Times New Roman"/>
                <a:sym typeface="Times New Roman"/>
              </a:rPr>
              <a:t>AJAY S, SABARISHWARAN P, VIMAL S</a:t>
            </a: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Year</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 </a:t>
            </a:r>
            <a:r>
              <a:rPr lang="en-US" sz="2500" b="1" dirty="0">
                <a:solidFill>
                  <a:schemeClr val="dk1"/>
                </a:solidFill>
                <a:latin typeface="Times New Roman"/>
                <a:ea typeface="Times New Roman"/>
                <a:cs typeface="Times New Roman"/>
                <a:sym typeface="Times New Roman"/>
              </a:rPr>
              <a:t>I</a:t>
            </a:r>
            <a:endParaRPr sz="2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Semester</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 </a:t>
            </a:r>
            <a:r>
              <a:rPr lang="en-US" sz="2500" b="1" dirty="0">
                <a:solidFill>
                  <a:schemeClr val="dk1"/>
                </a:solidFill>
                <a:latin typeface="Times New Roman"/>
                <a:ea typeface="Times New Roman"/>
                <a:cs typeface="Times New Roman"/>
                <a:sym typeface="Times New Roman"/>
              </a:rPr>
              <a:t>II</a:t>
            </a:r>
            <a:endParaRPr sz="2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Section			: A6</a:t>
            </a: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Date				: 22-0</a:t>
            </a:r>
            <a:r>
              <a:rPr lang="en-US" sz="2500" b="1" dirty="0">
                <a:solidFill>
                  <a:schemeClr val="dk1"/>
                </a:solidFill>
                <a:latin typeface="Times New Roman"/>
                <a:ea typeface="Times New Roman"/>
                <a:cs typeface="Times New Roman"/>
                <a:sym typeface="Times New Roman"/>
              </a:rPr>
              <a:t>4</a:t>
            </a:r>
            <a:r>
              <a:rPr lang="en-US" sz="2500" b="1" i="0" u="none" strike="noStrike" cap="none" dirty="0">
                <a:solidFill>
                  <a:schemeClr val="dk1"/>
                </a:solidFill>
                <a:latin typeface="Times New Roman"/>
                <a:ea typeface="Times New Roman"/>
                <a:cs typeface="Times New Roman"/>
                <a:sym typeface="Times New Roman"/>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1764750"/>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lvl="0" algn="ctr">
              <a:buClr>
                <a:schemeClr val="dk1"/>
              </a:buClr>
              <a:buSzPts val="3200"/>
            </a:pPr>
            <a:r>
              <a:rPr lang="en-US" sz="4000" b="1" dirty="0">
                <a:solidFill>
                  <a:schemeClr val="dk1"/>
                </a:solidFill>
                <a:latin typeface="Times New Roman"/>
                <a:ea typeface="Times New Roman"/>
                <a:cs typeface="Times New Roman"/>
                <a:sym typeface="Times New Roman"/>
              </a:rPr>
              <a:t>Project Title</a:t>
            </a:r>
            <a:endParaRPr sz="4000" b="1" dirty="0">
              <a:solidFill>
                <a:schemeClr val="dk1"/>
              </a:solidFill>
              <a:latin typeface="Times New Roman"/>
              <a:ea typeface="Times New Roman"/>
              <a:cs typeface="Times New Roman"/>
              <a:sym typeface="Times New Roman"/>
            </a:endParaRPr>
          </a:p>
        </p:txBody>
      </p:sp>
      <p:sp>
        <p:nvSpPr>
          <p:cNvPr id="117" name="Google Shape;117;p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2</a:t>
            </a:fld>
            <a:endParaRPr/>
          </a:p>
        </p:txBody>
      </p:sp>
      <p:sp>
        <p:nvSpPr>
          <p:cNvPr id="118" name="Google Shape;118;p2"/>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dirty="0">
              <a:solidFill>
                <a:srgbClr val="414141"/>
              </a:solidFill>
              <a:latin typeface="Arial"/>
              <a:ea typeface="Arial"/>
              <a:cs typeface="Arial"/>
              <a:sym typeface="Arial"/>
            </a:endParaRPr>
          </a:p>
        </p:txBody>
      </p:sp>
      <p:sp>
        <p:nvSpPr>
          <p:cNvPr id="119" name="Google Shape;119;p2"/>
          <p:cNvSpPr txBox="1">
            <a:spLocks noGrp="1"/>
          </p:cNvSpPr>
          <p:nvPr>
            <p:ph type="body" idx="1"/>
          </p:nvPr>
        </p:nvSpPr>
        <p:spPr>
          <a:xfrm>
            <a:off x="342450" y="1013088"/>
            <a:ext cx="8229600" cy="3703200"/>
          </a:xfrm>
          <a:prstGeom prst="rect">
            <a:avLst/>
          </a:prstGeom>
          <a:noFill/>
          <a:ln>
            <a:noFill/>
          </a:ln>
        </p:spPr>
        <p:txBody>
          <a:bodyPr spcFirstLastPara="1" wrap="square" lIns="91425" tIns="45700" rIns="91425" bIns="45700" anchor="t" anchorCtr="0">
            <a:normAutofit/>
          </a:bodyPr>
          <a:lstStyle/>
          <a:p>
            <a:pPr marL="274320" lvl="0" indent="-148844" algn="l" rtl="0">
              <a:lnSpc>
                <a:spcPct val="100000"/>
              </a:lnSpc>
              <a:spcBef>
                <a:spcPts val="0"/>
              </a:spcBef>
              <a:spcAft>
                <a:spcPts val="0"/>
              </a:spcAft>
              <a:buSzPts val="1976"/>
              <a:buNone/>
            </a:pPr>
            <a:endParaRPr dirty="0">
              <a:latin typeface="Times New Roman"/>
              <a:ea typeface="Times New Roman"/>
              <a:cs typeface="Times New Roman"/>
              <a:sym typeface="Times New Roman"/>
            </a:endParaRPr>
          </a:p>
          <a:p>
            <a:pPr marL="274320" lvl="0" indent="-148844" algn="l" rtl="0">
              <a:lnSpc>
                <a:spcPct val="100000"/>
              </a:lnSpc>
              <a:spcBef>
                <a:spcPts val="600"/>
              </a:spcBef>
              <a:spcAft>
                <a:spcPts val="0"/>
              </a:spcAft>
              <a:buSzPts val="1976"/>
              <a:buNone/>
            </a:pPr>
            <a:endParaRPr dirty="0">
              <a:latin typeface="Times New Roman"/>
              <a:ea typeface="Times New Roman"/>
              <a:cs typeface="Times New Roman"/>
              <a:sym typeface="Times New Roman"/>
            </a:endParaRPr>
          </a:p>
          <a:p>
            <a:pPr marL="0" lvl="0" indent="0" algn="l" rtl="0">
              <a:lnSpc>
                <a:spcPct val="100000"/>
              </a:lnSpc>
              <a:spcBef>
                <a:spcPts val="600"/>
              </a:spcBef>
              <a:spcAft>
                <a:spcPts val="0"/>
              </a:spcAft>
              <a:buSzPts val="1976"/>
              <a:buNone/>
            </a:pPr>
            <a:r>
              <a:rPr lang="en-US" dirty="0">
                <a:latin typeface="Times New Roman"/>
                <a:ea typeface="Times New Roman"/>
                <a:cs typeface="Times New Roman"/>
                <a:sym typeface="Times New Roman"/>
              </a:rPr>
              <a:t>      </a:t>
            </a:r>
            <a:endParaRPr lang="en-IN" dirty="0"/>
          </a:p>
          <a:p>
            <a:pPr marL="0" lvl="0" indent="0" algn="l" rtl="0">
              <a:lnSpc>
                <a:spcPct val="100000"/>
              </a:lnSpc>
              <a:spcBef>
                <a:spcPts val="600"/>
              </a:spcBef>
              <a:spcAft>
                <a:spcPts val="0"/>
              </a:spcAft>
              <a:buSzPts val="1368"/>
              <a:buNone/>
            </a:pPr>
            <a:r>
              <a:rPr lang="en-IN" dirty="0">
                <a:latin typeface="Times New Roman"/>
                <a:ea typeface="Times New Roman"/>
                <a:cs typeface="Times New Roman"/>
                <a:sym typeface="Times New Roman"/>
              </a:rPr>
              <a:t>            </a:t>
            </a:r>
            <a:r>
              <a:rPr lang="en-IN" b="1" dirty="0">
                <a:latin typeface="Times New Roman"/>
                <a:ea typeface="Times New Roman"/>
                <a:cs typeface="Times New Roman"/>
                <a:sym typeface="Times New Roman"/>
              </a:rPr>
              <a:t>        </a:t>
            </a:r>
            <a:endParaRPr lang="en-IN" dirty="0"/>
          </a:p>
          <a:p>
            <a:pPr marL="0" lvl="0" indent="0" algn="l" rtl="0">
              <a:lnSpc>
                <a:spcPct val="100000"/>
              </a:lnSpc>
              <a:spcBef>
                <a:spcPts val="600"/>
              </a:spcBef>
              <a:spcAft>
                <a:spcPts val="0"/>
              </a:spcAft>
              <a:buSzPts val="1368"/>
              <a:buNone/>
            </a:pPr>
            <a:endParaRPr dirty="0">
              <a:latin typeface="Times New Roman"/>
              <a:ea typeface="Times New Roman"/>
              <a:cs typeface="Times New Roman"/>
              <a:sym typeface="Times New Roman"/>
            </a:endParaRPr>
          </a:p>
        </p:txBody>
      </p:sp>
      <p:sp>
        <p:nvSpPr>
          <p:cNvPr id="120" name="Google Shape;120;p2"/>
          <p:cNvSpPr txBox="1"/>
          <p:nvPr/>
        </p:nvSpPr>
        <p:spPr>
          <a:xfrm>
            <a:off x="428228" y="2909712"/>
            <a:ext cx="8515225"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0" i="1"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WATER FLOW STIMULATION IN PIPES</a:t>
            </a:r>
            <a:endParaRPr sz="2600" b="0" i="1"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457200" y="209550"/>
            <a:ext cx="8229600" cy="609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a:t>
            </a:r>
            <a:endParaRPr lang="en-US" sz="4000" dirty="0">
              <a:solidFill>
                <a:schemeClr val="dk1"/>
              </a:solidFill>
              <a:latin typeface="Times New Roman"/>
              <a:ea typeface="Times New Roman"/>
              <a:cs typeface="Times New Roman"/>
              <a:sym typeface="Times New Roman"/>
            </a:endParaRPr>
          </a:p>
        </p:txBody>
      </p:sp>
      <p:sp>
        <p:nvSpPr>
          <p:cNvPr id="126" name="Google Shape;126;p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27" name="Google Shape;127;p3"/>
          <p:cNvSpPr txBox="1">
            <a:spLocks noGrp="1"/>
          </p:cNvSpPr>
          <p:nvPr>
            <p:ph type="body" idx="1"/>
          </p:nvPr>
        </p:nvSpPr>
        <p:spPr>
          <a:xfrm>
            <a:off x="278607" y="878681"/>
            <a:ext cx="8229600" cy="3703320"/>
          </a:xfrm>
          <a:prstGeom prst="rect">
            <a:avLst/>
          </a:prstGeom>
          <a:noFill/>
          <a:ln>
            <a:noFill/>
          </a:ln>
        </p:spPr>
        <p:txBody>
          <a:bodyPr spcFirstLastPara="1" wrap="square" lIns="91425" tIns="45700" rIns="91425" bIns="45700" anchor="t" anchorCtr="0">
            <a:normAutofit/>
          </a:bodyPr>
          <a:lstStyle/>
          <a:p>
            <a:pPr indent="0" algn="just">
              <a:spcBef>
                <a:spcPts val="1200"/>
              </a:spcBef>
              <a:buNone/>
            </a:pPr>
            <a:r>
              <a:rPr lang="en-US" sz="1600" dirty="0">
                <a:latin typeface="Times New Roman" panose="02020603050405020304" pitchFamily="18" charset="0"/>
                <a:cs typeface="Times New Roman" panose="02020603050405020304" pitchFamily="18" charset="0"/>
              </a:rPr>
              <a:t>The project presents the design and development of a Simulation of Water Flow in Pipes using Data Structures, focusing on efficient flow analysis and visualization through graph-based techniques. A Graph data structure is used to represent the pipe network, where nodes denote junctions and edges denote pipes. The system follows a role-based approach, where administrators manage the pipe network by adding or deleting connections, while users can run simulations between selected nodes. Dijkstra’s Algorithm is implemented to determine the shortest time path for water flow between nodes. The simulation calculates flow time using parameters such as pipe length and velocity, and visually represents the movement of water through animated interfaces. The system includes a role-based authentication mechanism to ensure secure access and controlled modifications. Additionally, the application integrates real-life use cases such as water supply systems and irrigation. By combining data structures, algorithms, and interactive visualization, the project demonstrates the real-world applicability of computational techniques in fluid flow management systems.</a:t>
            </a:r>
            <a:endParaRPr sz="18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685800" y="171450"/>
            <a:ext cx="8001000" cy="4953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 WITH CO &amp; PO MAPPING</a:t>
            </a:r>
            <a:endParaRPr lang="en-US" sz="4000" b="1" dirty="0">
              <a:solidFill>
                <a:schemeClr val="dk1"/>
              </a:solidFill>
              <a:latin typeface="Times New Roman"/>
              <a:ea typeface="Times New Roman"/>
              <a:cs typeface="Times New Roman"/>
              <a:sym typeface="Times New Roman"/>
            </a:endParaRPr>
          </a:p>
        </p:txBody>
      </p:sp>
      <p:sp>
        <p:nvSpPr>
          <p:cNvPr id="133" name="Google Shape;133;p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34" name="Google Shape;134;p4"/>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a:solidFill>
                <a:srgbClr val="414141"/>
              </a:solidFill>
              <a:latin typeface="Arial"/>
              <a:ea typeface="Arial"/>
              <a:cs typeface="Arial"/>
              <a:sym typeface="Arial"/>
            </a:endParaRPr>
          </a:p>
        </p:txBody>
      </p:sp>
      <p:graphicFrame>
        <p:nvGraphicFramePr>
          <p:cNvPr id="135" name="Google Shape;135;p4"/>
          <p:cNvGraphicFramePr/>
          <p:nvPr>
            <p:extLst>
              <p:ext uri="{D42A27DB-BD31-4B8C-83A1-F6EECF244321}">
                <p14:modId xmlns:p14="http://schemas.microsoft.com/office/powerpoint/2010/main" val="1224992362"/>
              </p:ext>
            </p:extLst>
          </p:nvPr>
        </p:nvGraphicFramePr>
        <p:xfrm>
          <a:off x="606490" y="870650"/>
          <a:ext cx="7965551" cy="3429000"/>
        </p:xfrm>
        <a:graphic>
          <a:graphicData uri="http://schemas.openxmlformats.org/drawingml/2006/table">
            <a:tbl>
              <a:tblPr firstRow="1" bandRow="1">
                <a:noFill/>
                <a:tableStyleId>{A360B54D-2F12-4FEA-B639-18B5B5E1A9AA}</a:tableStyleId>
              </a:tblPr>
              <a:tblGrid>
                <a:gridCol w="5701658">
                  <a:extLst>
                    <a:ext uri="{9D8B030D-6E8A-4147-A177-3AD203B41FA5}">
                      <a16:colId xmlns:a16="http://schemas.microsoft.com/office/drawing/2014/main" val="20000"/>
                    </a:ext>
                  </a:extLst>
                </a:gridCol>
                <a:gridCol w="1176149">
                  <a:extLst>
                    <a:ext uri="{9D8B030D-6E8A-4147-A177-3AD203B41FA5}">
                      <a16:colId xmlns:a16="http://schemas.microsoft.com/office/drawing/2014/main" val="20001"/>
                    </a:ext>
                  </a:extLst>
                </a:gridCol>
                <a:gridCol w="1087744">
                  <a:extLst>
                    <a:ext uri="{9D8B030D-6E8A-4147-A177-3AD203B41FA5}">
                      <a16:colId xmlns:a16="http://schemas.microsoft.com/office/drawing/2014/main" val="20002"/>
                    </a:ext>
                  </a:extLst>
                </a:gridCol>
              </a:tblGrid>
              <a:tr h="4645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Abstract</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CO</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extLst>
                  <a:ext uri="{0D108BD9-81ED-4DB2-BD59-A6C34878D82A}">
                    <a16:rowId xmlns:a16="http://schemas.microsoft.com/office/drawing/2014/main" val="10000"/>
                  </a:ext>
                </a:extLst>
              </a:tr>
              <a:tr h="2964450">
                <a:tc>
                  <a:txBody>
                    <a:bodyPr/>
                    <a:lstStyle/>
                    <a:p>
                      <a:pPr marL="457200" marR="0" lvl="0" indent="0" algn="just" defTabSz="914400" rtl="0" eaLnBrk="1" fontAlgn="auto" latinLnBrk="0" hangingPunct="1">
                        <a:lnSpc>
                          <a:spcPct val="100000"/>
                        </a:lnSpc>
                        <a:spcBef>
                          <a:spcPts val="0"/>
                        </a:spcBef>
                        <a:spcAft>
                          <a:spcPts val="0"/>
                        </a:spcAft>
                        <a:buClr>
                          <a:schemeClr val="dk1"/>
                        </a:buClr>
                        <a:buSzPts val="1100"/>
                        <a:buFont typeface="Arial"/>
                        <a:buNone/>
                        <a:tabLst/>
                        <a:defRPr/>
                      </a:pPr>
                      <a:r>
                        <a:rPr lang="en-US" sz="1200" dirty="0">
                          <a:latin typeface="Times New Roman" panose="02020603050405020304" pitchFamily="18" charset="0"/>
                          <a:cs typeface="Times New Roman" panose="02020603050405020304" pitchFamily="18" charset="0"/>
                        </a:rPr>
                        <a:t>The project presents the design and development of a Simulation of Water Flow in Pipes using Data Structures, focusing on efficient flow analysis and visualization through graph-based techniques. A Graph data structure is used to represent the pipe network, where nodes denote junctions and edges denote pipes. The system follows a role-based approach, where administrators manage the pipe network by adding or deleting connections, while users can run simulations between selected nodes. Dijkstra’s Algorithm is implemented to determine the shortest time path for water flow between nodes. The simulation calculates flow time using parameters such as pipe length and velocity, and visually represents the movement of water through animated interfaces. The system includes a role-based authentication mechanism to ensure secure access and controlled modifications. Additionally, the application integrates real-life use cases such as water supply systems and irrigation. By combining data structures, algorithms, and interactive visualization, the project demonstrates the real-world applicability of computational techniques in fluid flow management systems.</a:t>
                      </a:r>
                      <a:endParaRPr sz="11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CO1</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CO2</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CO3</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CO4</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PO1</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PO3</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PO4</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PO5</a:t>
                      </a:r>
                      <a:endParaRPr sz="1800" u="none" strike="noStrike" cap="none" dirty="0">
                        <a:latin typeface="Times New Roman" panose="02020603050405020304" pitchFamily="18" charset="0"/>
                        <a:ea typeface="Arial"/>
                        <a:cs typeface="Times New Roman" panose="02020603050405020304" pitchFamily="18" charset="0"/>
                        <a:sym typeface="Arial"/>
                      </a:endParaRPr>
                    </a:p>
                  </a:txBody>
                  <a:tcPr marL="91450" marR="91450" marT="45725" marB="45725">
                    <a:solidFill>
                      <a:schemeClr val="lt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title"/>
          </p:nvPr>
        </p:nvSpPr>
        <p:spPr>
          <a:xfrm>
            <a:off x="457200" y="223935"/>
            <a:ext cx="8229600" cy="519015"/>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ts val="3200"/>
              <a:buFont typeface="Times New Roman"/>
              <a:buNone/>
            </a:pPr>
            <a:r>
              <a:rPr lang="en-US" sz="3600" b="1" dirty="0">
                <a:solidFill>
                  <a:schemeClr val="dk1"/>
                </a:solidFill>
                <a:latin typeface="Times New Roman"/>
                <a:ea typeface="Times New Roman"/>
                <a:cs typeface="Times New Roman"/>
                <a:sym typeface="Times New Roman"/>
              </a:rPr>
              <a:t>INTRODUCTION</a:t>
            </a:r>
            <a:endParaRPr lang="en-US" sz="4000" b="1" dirty="0">
              <a:solidFill>
                <a:schemeClr val="dk1"/>
              </a:solidFill>
              <a:latin typeface="Times New Roman"/>
              <a:ea typeface="Times New Roman"/>
              <a:cs typeface="Times New Roman"/>
              <a:sym typeface="Times New Roman"/>
            </a:endParaRPr>
          </a:p>
        </p:txBody>
      </p:sp>
      <p:sp>
        <p:nvSpPr>
          <p:cNvPr id="141" name="Google Shape;141;p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42" name="Google Shape;142;p5"/>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p>
            <a:pPr marL="274320" lvl="0" indent="-197104" algn="just" rtl="0">
              <a:lnSpc>
                <a:spcPct val="100000"/>
              </a:lnSpc>
              <a:spcBef>
                <a:spcPts val="1200"/>
              </a:spcBef>
              <a:spcAft>
                <a:spcPts val="0"/>
              </a:spcAft>
              <a:buSzPts val="1216"/>
              <a:buNone/>
            </a:pPr>
            <a:r>
              <a:rPr lang="en-US" sz="1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sym typeface="Arial"/>
              </a:rPr>
              <a:t>   </a:t>
            </a:r>
            <a:endParaRPr sz="1600" dirty="0">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6E731432-152C-199D-9622-401E73B29B66}"/>
              </a:ext>
            </a:extLst>
          </p:cNvPr>
          <p:cNvSpPr txBox="1"/>
          <p:nvPr/>
        </p:nvSpPr>
        <p:spPr>
          <a:xfrm>
            <a:off x="457201" y="909757"/>
            <a:ext cx="8229600" cy="3970318"/>
          </a:xfrm>
          <a:prstGeom prst="rect">
            <a:avLst/>
          </a:prstGeom>
          <a:noFill/>
        </p:spPr>
        <p:txBody>
          <a:bodyPr wrap="square">
            <a:spAutoFit/>
          </a:bodyPr>
          <a:lstStyle/>
          <a:p>
            <a:pPr algn="just">
              <a:buNone/>
            </a:pPr>
            <a:r>
              <a:rPr lang="en-US" sz="1800" dirty="0">
                <a:latin typeface="Times New Roman" panose="02020603050405020304" pitchFamily="18" charset="0"/>
                <a:cs typeface="Times New Roman" panose="02020603050405020304" pitchFamily="18" charset="0"/>
              </a:rPr>
              <a:t>The “Water Flow Simulation in Pipes” project is designed to model and analyze the movement of water through a network of interconnected pipes using Data Structures. In real-world systems such as water supply networks, irrigation systems, and drainage systems, understanding the flow path and time is very important.</a:t>
            </a:r>
          </a:p>
          <a:p>
            <a:pPr>
              <a:buNone/>
            </a:pPr>
            <a:r>
              <a:rPr lang="en-US" sz="1800" dirty="0">
                <a:latin typeface="Times New Roman" panose="02020603050405020304" pitchFamily="18" charset="0"/>
                <a:cs typeface="Times New Roman" panose="02020603050405020304" pitchFamily="18" charset="0"/>
              </a:rPr>
              <a:t>In this project, a graph-based approach is used where junctions are represented as nodes and pipes are represented as edges. The system calculates the shortest path and minimum time required for water to travel from a source to a destination using Dijkstra’s Algorithm.</a:t>
            </a:r>
          </a:p>
          <a:p>
            <a:pPr>
              <a:buNone/>
            </a:pPr>
            <a:r>
              <a:rPr lang="en-US" sz="1800" dirty="0">
                <a:latin typeface="Times New Roman" panose="02020603050405020304" pitchFamily="18" charset="0"/>
                <a:cs typeface="Times New Roman" panose="02020603050405020304" pitchFamily="18" charset="0"/>
              </a:rPr>
              <a:t>In this system, a role-based approach is implemented where only the Admin can modify the pipe network, while Users can only run simulations between nodes. This improves system security and reflects real-world scenarios where only authorized personnel manage </a:t>
            </a:r>
            <a:r>
              <a:rPr lang="en-US" sz="1800" dirty="0" err="1">
                <a:latin typeface="Times New Roman" panose="02020603050405020304" pitchFamily="18" charset="0"/>
                <a:cs typeface="Times New Roman" panose="02020603050405020304" pitchFamily="18" charset="0"/>
              </a:rPr>
              <a:t>infrastructure.</a:t>
            </a:r>
            <a:r>
              <a:rPr lang="en-US" sz="1800" dirty="0" err="1"/>
              <a:t>”</a:t>
            </a:r>
            <a:r>
              <a:rPr lang="en-US" sz="1800" dirty="0" err="1">
                <a:latin typeface="Times New Roman" panose="02020603050405020304" pitchFamily="18" charset="0"/>
                <a:cs typeface="Times New Roman" panose="02020603050405020304" pitchFamily="18" charset="0"/>
              </a:rPr>
              <a:t>The</a:t>
            </a:r>
            <a:r>
              <a:rPr lang="en-US" sz="1800" dirty="0">
                <a:latin typeface="Times New Roman" panose="02020603050405020304" pitchFamily="18" charset="0"/>
                <a:cs typeface="Times New Roman" panose="02020603050405020304" pitchFamily="18" charset="0"/>
              </a:rPr>
              <a:t> main aim of this project is to demonstrate how data structures and algorithms can be applied to solve real-world engineering problems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85950" y="59800"/>
            <a:ext cx="8313300" cy="762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tx1"/>
                </a:solidFill>
                <a:latin typeface="Times New Roman" panose="02020603050405020304" pitchFamily="18" charset="0"/>
                <a:cs typeface="Times New Roman" panose="02020603050405020304" pitchFamily="18" charset="0"/>
              </a:rPr>
              <a:t>DATA STRUCTURES USED</a:t>
            </a:r>
            <a:endParaRPr lang="en-US"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48" name="Google Shape;148;p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49" name="Google Shape;149;p6"/>
          <p:cNvSpPr txBox="1">
            <a:spLocks noGrp="1"/>
          </p:cNvSpPr>
          <p:nvPr>
            <p:ph type="body" idx="1"/>
          </p:nvPr>
        </p:nvSpPr>
        <p:spPr>
          <a:xfrm>
            <a:off x="485950" y="904600"/>
            <a:ext cx="8429450" cy="40746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600"/>
              </a:spcBef>
              <a:spcAft>
                <a:spcPts val="0"/>
              </a:spcAft>
              <a:buSzPts val="1368"/>
              <a:buNone/>
            </a:pPr>
            <a:r>
              <a:rPr lang="en-US" sz="1800" b="1" dirty="0">
                <a:latin typeface="Times New Roman" panose="02020603050405020304" pitchFamily="18" charset="0"/>
                <a:ea typeface="Arial"/>
                <a:cs typeface="Times New Roman" panose="02020603050405020304" pitchFamily="18" charset="0"/>
                <a:sym typeface="Arial"/>
              </a:rPr>
              <a:t> </a:t>
            </a:r>
            <a:endParaRPr sz="1800" b="1" dirty="0">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CD67B705-491B-32B9-B7F0-0F890280491B}"/>
              </a:ext>
            </a:extLst>
          </p:cNvPr>
          <p:cNvSpPr txBox="1"/>
          <p:nvPr/>
        </p:nvSpPr>
        <p:spPr>
          <a:xfrm>
            <a:off x="485950" y="1340644"/>
            <a:ext cx="7243588" cy="2800767"/>
          </a:xfrm>
          <a:prstGeom prst="rect">
            <a:avLst/>
          </a:prstGeom>
          <a:noFill/>
        </p:spPr>
        <p:txBody>
          <a:bodyPr wrap="square">
            <a:spAutoFit/>
          </a:bodyPr>
          <a:lstStyle/>
          <a:p>
            <a:pPr>
              <a:buFont typeface="+mj-lt"/>
              <a:buAutoNum type="arabicPeriod"/>
            </a:pPr>
            <a:r>
              <a:rPr lang="en-IN" sz="1600" b="1" dirty="0">
                <a:latin typeface="Times New Roman" panose="02020603050405020304" pitchFamily="18" charset="0"/>
                <a:cs typeface="Times New Roman" panose="02020603050405020304" pitchFamily="18" charset="0"/>
              </a:rPr>
              <a:t>Graph (Adjacency List)</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Represents the pipe network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Nodes → Junctions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Edges → Pipes </a:t>
            </a:r>
          </a:p>
          <a:p>
            <a:pPr>
              <a:buFont typeface="+mj-lt"/>
              <a:buAutoNum type="arabicPeriod"/>
            </a:pPr>
            <a:r>
              <a:rPr lang="en-IN" sz="1600" b="1" dirty="0">
                <a:latin typeface="Times New Roman" panose="02020603050405020304" pitchFamily="18" charset="0"/>
                <a:cs typeface="Times New Roman" panose="02020603050405020304" pitchFamily="18" charset="0"/>
              </a:rPr>
              <a:t>Priority Queue</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Used in Dijkstra’s Algorithm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Helps select the node with minimum distance </a:t>
            </a:r>
          </a:p>
          <a:p>
            <a:pPr>
              <a:buFont typeface="+mj-lt"/>
              <a:buAutoNum type="arabicPeriod"/>
            </a:pPr>
            <a:r>
              <a:rPr lang="en-IN" sz="1600" b="1" dirty="0">
                <a:latin typeface="Times New Roman" panose="02020603050405020304" pitchFamily="18" charset="0"/>
                <a:cs typeface="Times New Roman" panose="02020603050405020304" pitchFamily="18" charset="0"/>
              </a:rPr>
              <a:t>Array</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Stores distance values and visited status </a:t>
            </a:r>
          </a:p>
          <a:p>
            <a:pPr>
              <a:buFont typeface="+mj-lt"/>
              <a:buAutoNum type="arabicPeriod"/>
            </a:pPr>
            <a:r>
              <a:rPr lang="en-IN" sz="1600" b="1" dirty="0">
                <a:latin typeface="Times New Roman" panose="02020603050405020304" pitchFamily="18" charset="0"/>
                <a:cs typeface="Times New Roman" panose="02020603050405020304" pitchFamily="18" charset="0"/>
              </a:rPr>
              <a:t>Queue (Optional for BFS visualization)</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Used for flow animation or traversal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tx1"/>
                </a:solidFill>
                <a:latin typeface="Times New Roman" panose="02020603050405020304" pitchFamily="18" charset="0"/>
                <a:cs typeface="Times New Roman" panose="02020603050405020304" pitchFamily="18" charset="0"/>
              </a:rPr>
              <a:t>ADVANTAGES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5A0CACE1-7DAD-CD75-C7EE-24A919D9EB3D}"/>
              </a:ext>
            </a:extLst>
          </p:cNvPr>
          <p:cNvSpPr>
            <a:spLocks noChangeArrowheads="1"/>
          </p:cNvSpPr>
          <p:nvPr/>
        </p:nvSpPr>
        <p:spPr bwMode="auto">
          <a:xfrm>
            <a:off x="533400" y="417563"/>
            <a:ext cx="4445448"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calculation of shortest path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simulation of water flow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in planning water distribution systems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calculation errors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for large pipe networks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visualization of complex systems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BLOCK DIAGRAM</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71636E76-E52D-88FA-267B-D8C24E0FF49E}"/>
              </a:ext>
            </a:extLst>
          </p:cNvPr>
          <p:cNvPicPr>
            <a:picLocks noChangeAspect="1"/>
          </p:cNvPicPr>
          <p:nvPr/>
        </p:nvPicPr>
        <p:blipFill>
          <a:blip r:embed="rId3"/>
          <a:stretch>
            <a:fillRect/>
          </a:stretch>
        </p:blipFill>
        <p:spPr>
          <a:xfrm>
            <a:off x="2386013" y="742950"/>
            <a:ext cx="4344453" cy="4024313"/>
          </a:xfrm>
          <a:prstGeom prst="rect">
            <a:avLst/>
          </a:prstGeom>
        </p:spPr>
      </p:pic>
    </p:spTree>
    <p:extLst>
      <p:ext uri="{BB962C8B-B14F-4D97-AF65-F5344CB8AC3E}">
        <p14:creationId xmlns:p14="http://schemas.microsoft.com/office/powerpoint/2010/main" val="165988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BLOCK DIAGRAM - DESCRIPTION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Rectangle 2">
            <a:extLst>
              <a:ext uri="{FF2B5EF4-FFF2-40B4-BE49-F238E27FC236}">
                <a16:creationId xmlns:a16="http://schemas.microsoft.com/office/drawing/2014/main" id="{58C256D5-6358-539F-89DE-3C67B6752042}"/>
              </a:ext>
            </a:extLst>
          </p:cNvPr>
          <p:cNvSpPr>
            <a:spLocks noChangeArrowheads="1"/>
          </p:cNvSpPr>
          <p:nvPr/>
        </p:nvSpPr>
        <p:spPr bwMode="auto">
          <a:xfrm>
            <a:off x="338138" y="1093353"/>
            <a:ext cx="849153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proposed system simulates water flow through a pipeline network using graph-based data structures.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user enters pipe and junction details through the web interface.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creates a graph where nodes represent junctions and edges represent pipes.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Graph algorithms such as BFS and Dijkstra's Algorithm are applied to analyze water flow.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calculates the shortest and most efficient path for water distribution.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Flow status, path information, and simulation results are displayed to the user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390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LIST OF MODULES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Rectangle 2">
            <a:extLst>
              <a:ext uri="{FF2B5EF4-FFF2-40B4-BE49-F238E27FC236}">
                <a16:creationId xmlns:a16="http://schemas.microsoft.com/office/drawing/2014/main" id="{FFE1016D-806A-8149-436F-DAF8F385E818}"/>
              </a:ext>
            </a:extLst>
          </p:cNvPr>
          <p:cNvSpPr>
            <a:spLocks noChangeArrowheads="1"/>
          </p:cNvSpPr>
          <p:nvPr/>
        </p:nvSpPr>
        <p:spPr bwMode="auto">
          <a:xfrm>
            <a:off x="328612" y="742950"/>
            <a:ext cx="566052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Module 1 – User Input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Accepts pipe and junction details. </a:t>
            </a:r>
          </a:p>
          <a:p>
            <a:r>
              <a:rPr lang="en-IN" sz="1800" b="1" dirty="0">
                <a:latin typeface="Times New Roman" panose="02020603050405020304" pitchFamily="18" charset="0"/>
                <a:cs typeface="Times New Roman" panose="02020603050405020304" pitchFamily="18" charset="0"/>
              </a:rPr>
              <a:t>Module 2 – Graph Construction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Creates graph representation of the pipeline network. </a:t>
            </a:r>
          </a:p>
          <a:p>
            <a:r>
              <a:rPr lang="en-IN" sz="1800" b="1" dirty="0">
                <a:latin typeface="Times New Roman" panose="02020603050405020304" pitchFamily="18" charset="0"/>
                <a:cs typeface="Times New Roman" panose="02020603050405020304" pitchFamily="18" charset="0"/>
              </a:rPr>
              <a:t>Module 3 – Flow Simulation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Simulates water movement through pipes. </a:t>
            </a:r>
          </a:p>
          <a:p>
            <a:r>
              <a:rPr lang="en-IN" sz="1800" b="1" dirty="0">
                <a:latin typeface="Times New Roman" panose="02020603050405020304" pitchFamily="18" charset="0"/>
                <a:cs typeface="Times New Roman" panose="02020603050405020304" pitchFamily="18" charset="0"/>
              </a:rPr>
              <a:t>Module 4 – Path Optimization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Finds shortest and optimal flow paths using algorithms. </a:t>
            </a:r>
          </a:p>
          <a:p>
            <a:r>
              <a:rPr lang="en-IN" sz="1800" b="1" dirty="0">
                <a:latin typeface="Times New Roman" panose="02020603050405020304" pitchFamily="18" charset="0"/>
                <a:cs typeface="Times New Roman" panose="02020603050405020304" pitchFamily="18" charset="0"/>
              </a:rPr>
              <a:t>Module 5 – Output &amp; Visualization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Displays simulation results and network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8623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MODULE DESCRIPTION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Rectangle 2">
            <a:extLst>
              <a:ext uri="{FF2B5EF4-FFF2-40B4-BE49-F238E27FC236}">
                <a16:creationId xmlns:a16="http://schemas.microsoft.com/office/drawing/2014/main" id="{2A332BF8-AE9E-32AF-2235-9158071B5E1B}"/>
              </a:ext>
            </a:extLst>
          </p:cNvPr>
          <p:cNvSpPr>
            <a:spLocks noChangeArrowheads="1"/>
          </p:cNvSpPr>
          <p:nvPr/>
        </p:nvSpPr>
        <p:spPr bwMode="auto">
          <a:xfrm>
            <a:off x="278607" y="859215"/>
            <a:ext cx="523091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b="1" dirty="0">
                <a:latin typeface="Times New Roman" panose="02020603050405020304" pitchFamily="18" charset="0"/>
                <a:cs typeface="Times New Roman" panose="02020603050405020304" pitchFamily="18" charset="0"/>
              </a:rPr>
              <a:t>User Input Module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Collects source and destination nodes.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Accepts pipe length, capacity, and network details. </a:t>
            </a:r>
          </a:p>
          <a:p>
            <a:r>
              <a:rPr lang="en-US" sz="1800" b="1" dirty="0">
                <a:latin typeface="Times New Roman" panose="02020603050405020304" pitchFamily="18" charset="0"/>
                <a:cs typeface="Times New Roman" panose="02020603050405020304" pitchFamily="18" charset="0"/>
              </a:rPr>
              <a:t>Graph Construction Module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Represents the pipeline network as a graph.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Nodes represent junctions.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Edges represent water pipes. </a:t>
            </a:r>
          </a:p>
          <a:p>
            <a:r>
              <a:rPr lang="en-US" sz="1800" b="1" dirty="0">
                <a:latin typeface="Times New Roman" panose="02020603050405020304" pitchFamily="18" charset="0"/>
                <a:cs typeface="Times New Roman" panose="02020603050405020304" pitchFamily="18" charset="0"/>
              </a:rPr>
              <a:t>Flow Simulation Module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Simulates water flow between connected nodes.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Tracks movement of water through the network.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Identifies possible congestion or blockages.</a:t>
            </a:r>
          </a:p>
        </p:txBody>
      </p:sp>
    </p:spTree>
    <p:extLst>
      <p:ext uri="{BB962C8B-B14F-4D97-AF65-F5344CB8AC3E}">
        <p14:creationId xmlns:p14="http://schemas.microsoft.com/office/powerpoint/2010/main" val="1105840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MODULE DESCRIPTION(CONT…)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3D3B10A-AECE-5666-CC10-847C705E73D0}"/>
              </a:ext>
            </a:extLst>
          </p:cNvPr>
          <p:cNvSpPr>
            <a:spLocks noChangeArrowheads="1"/>
          </p:cNvSpPr>
          <p:nvPr/>
        </p:nvSpPr>
        <p:spPr bwMode="auto">
          <a:xfrm>
            <a:off x="381000" y="882728"/>
            <a:ext cx="577914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Path Optimization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Implements BFS for network traversal.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Uses Dijkstra's Algorithm to determine the shortest path.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Calculates minimum flow time between nodes. </a:t>
            </a:r>
          </a:p>
          <a:p>
            <a:endParaRPr lang="en-IN"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Output &amp; Visualization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Displays optimal water flow path.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Shows flow distance and travel time.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Presents simulation results in a user-friendly format.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Provides network visualization for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493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D4F69A1-A757-7E9D-A046-8AE447375952}"/>
              </a:ext>
            </a:extLst>
          </p:cNvPr>
          <p:cNvSpPr>
            <a:spLocks noChangeArrowheads="1"/>
          </p:cNvSpPr>
          <p:nvPr/>
        </p:nvSpPr>
        <p:spPr bwMode="auto">
          <a:xfrm>
            <a:off x="381000" y="608255"/>
            <a:ext cx="7234673"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calculates the shortest path between nodes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Flow time is accurately computed based on input values </a:t>
            </a:r>
          </a:p>
          <a:p>
            <a:pPr lvl="0"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Admin can successfully manage the pipe network (add/delete connections).</a:t>
            </a:r>
          </a:p>
          <a:p>
            <a:pPr lvl="0" eaLnBrk="0" fontAlgn="base" hangingPunct="0">
              <a:lnSpc>
                <a:spcPct val="150000"/>
              </a:lnSpc>
              <a:spcBef>
                <a:spcPct val="0"/>
              </a:spcBef>
              <a:spcAft>
                <a:spcPct val="0"/>
              </a:spcAft>
              <a:buClrTx/>
              <a:buFontTx/>
              <a:buChar char="•"/>
            </a:pPr>
            <a:r>
              <a:rPr lang="en-US" sz="1800" dirty="0">
                <a:latin typeface="Times New Roman" panose="02020603050405020304" pitchFamily="18" charset="0"/>
                <a:cs typeface="Times New Roman" panose="02020603050405020304" pitchFamily="18" charset="0"/>
              </a:rPr>
              <a:t>Users can independently run simulations between nodes.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helps users understand flow behavior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is efficient even for larger graphs </a:t>
            </a:r>
          </a:p>
        </p:txBody>
      </p:sp>
    </p:spTree>
    <p:extLst>
      <p:ext uri="{BB962C8B-B14F-4D97-AF65-F5344CB8AC3E}">
        <p14:creationId xmlns:p14="http://schemas.microsoft.com/office/powerpoint/2010/main" val="2162004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771824F0-6300-3B97-B63E-7A769EC9B4DB}"/>
              </a:ext>
            </a:extLst>
          </p:cNvPr>
          <p:cNvSpPr>
            <a:spLocks noChangeArrowheads="1"/>
          </p:cNvSpPr>
          <p:nvPr/>
        </p:nvSpPr>
        <p:spPr bwMode="auto">
          <a:xfrm>
            <a:off x="381000" y="552847"/>
            <a:ext cx="5933034" cy="1566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Dijkstra’s Algorithm ensures optimal path selection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extended to real-world applications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Minor limitations include dependency on accurate input data </a:t>
            </a:r>
          </a:p>
        </p:txBody>
      </p:sp>
    </p:spTree>
    <p:extLst>
      <p:ext uri="{BB962C8B-B14F-4D97-AF65-F5344CB8AC3E}">
        <p14:creationId xmlns:p14="http://schemas.microsoft.com/office/powerpoint/2010/main" val="1990011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CONCLUSION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15</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BDA784A6-1BCD-5006-3BE6-8FB95F31B1E6}"/>
              </a:ext>
            </a:extLst>
          </p:cNvPr>
          <p:cNvSpPr txBox="1"/>
          <p:nvPr/>
        </p:nvSpPr>
        <p:spPr>
          <a:xfrm>
            <a:off x="381000" y="1078706"/>
            <a:ext cx="8229600" cy="1992661"/>
          </a:xfrm>
          <a:prstGeom prst="rect">
            <a:avLst/>
          </a:prstGeom>
          <a:noFill/>
        </p:spPr>
        <p:txBody>
          <a:bodyPr wrap="square">
            <a:spAutoFit/>
          </a:bodyPr>
          <a:lstStyle/>
          <a:p>
            <a:pPr algn="just">
              <a:lnSpc>
                <a:spcPct val="150000"/>
              </a:lnSpc>
              <a:buNone/>
            </a:pPr>
            <a:r>
              <a:rPr lang="en-US" dirty="0">
                <a:latin typeface="Times New Roman" panose="02020603050405020304" pitchFamily="18" charset="0"/>
                <a:cs typeface="Times New Roman" panose="02020603050405020304" pitchFamily="18" charset="0"/>
              </a:rPr>
              <a:t>The project demonstrates the effective use of data structures and algorithms in solving real-world problems like water flow management. By using graph representation and Dijkstra’s Algorithm, the system efficiently calculates the shortest path and flow time.</a:t>
            </a:r>
          </a:p>
          <a:p>
            <a:pPr algn="just">
              <a:lnSpc>
                <a:spcPct val="150000"/>
              </a:lnSpc>
              <a:buNone/>
            </a:pPr>
            <a:r>
              <a:rPr lang="en-US" dirty="0">
                <a:latin typeface="Times New Roman" panose="02020603050405020304" pitchFamily="18" charset="0"/>
                <a:cs typeface="Times New Roman" panose="02020603050405020304" pitchFamily="18" charset="0"/>
              </a:rPr>
              <a:t>This project can be further enhanced by adding real-time data, pressure calculations, and advanced simulations, making it more suitable for industrial applications.</a:t>
            </a:r>
          </a:p>
          <a:p>
            <a:pPr algn="just">
              <a:lnSpc>
                <a:spcPct val="150000"/>
              </a:lnSpc>
              <a:buNone/>
            </a:pPr>
            <a:r>
              <a:rPr lang="en-US" dirty="0">
                <a:latin typeface="Times New Roman" panose="02020603050405020304" pitchFamily="18" charset="0"/>
                <a:cs typeface="Times New Roman" panose="02020603050405020304" pitchFamily="18" charset="0"/>
              </a:rPr>
              <a:t>The role-based system improves security and makes the project more realistic.</a:t>
            </a:r>
          </a:p>
        </p:txBody>
      </p:sp>
    </p:spTree>
    <p:extLst>
      <p:ext uri="{BB962C8B-B14F-4D97-AF65-F5344CB8AC3E}">
        <p14:creationId xmlns:p14="http://schemas.microsoft.com/office/powerpoint/2010/main" val="3875245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REFERENCES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BBAF27D7-D0D6-E8A7-47B4-9BDFCB9D4216}"/>
              </a:ext>
            </a:extLst>
          </p:cNvPr>
          <p:cNvSpPr>
            <a:spLocks noChangeArrowheads="1"/>
          </p:cNvSpPr>
          <p:nvPr/>
        </p:nvSpPr>
        <p:spPr bwMode="auto">
          <a:xfrm>
            <a:off x="381000" y="480248"/>
            <a:ext cx="4984057" cy="2397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Structures by Seymour Lipschutz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Algorithms by Thomas H.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Cormen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GeeksforGeeks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www.geeksforgeeks.org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W3Schools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www.w3schools.com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papers on water distribution systems </a:t>
            </a:r>
          </a:p>
        </p:txBody>
      </p:sp>
    </p:spTree>
    <p:extLst>
      <p:ext uri="{BB962C8B-B14F-4D97-AF65-F5344CB8AC3E}">
        <p14:creationId xmlns:p14="http://schemas.microsoft.com/office/powerpoint/2010/main" val="1446395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457200" y="1940776"/>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400" b="1" dirty="0">
                <a:solidFill>
                  <a:schemeClr val="dk1"/>
                </a:solidFill>
                <a:latin typeface="Times New Roman"/>
                <a:ea typeface="Times New Roman"/>
                <a:cs typeface="Times New Roman"/>
                <a:sym typeface="Times New Roman"/>
              </a:rPr>
              <a:t>Thank You!!</a:t>
            </a:r>
            <a:endParaRPr sz="4000" b="1" dirty="0">
              <a:solidFill>
                <a:schemeClr val="dk1"/>
              </a:solidFill>
              <a:latin typeface="Times New Roman"/>
              <a:ea typeface="Times New Roman"/>
              <a:cs typeface="Times New Roman"/>
              <a:sym typeface="Times New Roman"/>
            </a:endParaRPr>
          </a:p>
        </p:txBody>
      </p:sp>
      <p:sp>
        <p:nvSpPr>
          <p:cNvPr id="164" name="Google Shape;164;p1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1210</Words>
  <Application>Microsoft Office PowerPoint</Application>
  <PresentationFormat>On-screen Show (16:9)</PresentationFormat>
  <Paragraphs>142</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Noto Sans Symbols</vt:lpstr>
      <vt:lpstr>Calibri</vt:lpstr>
      <vt:lpstr>Arial</vt:lpstr>
      <vt:lpstr>Gill Sans</vt:lpstr>
      <vt:lpstr>Bookman Old Style</vt:lpstr>
      <vt:lpstr>Times New Roman</vt:lpstr>
      <vt:lpstr>Origin</vt:lpstr>
      <vt:lpstr>MGB1121/ CGB1122/EGB1121 – DATA STRUCTURES PROJECT REVIEW-2</vt:lpstr>
      <vt:lpstr>Project Title</vt:lpstr>
      <vt:lpstr>ABSTRACT</vt:lpstr>
      <vt:lpstr>ABSTRACT WITH CO &amp; PO MAPPING</vt:lpstr>
      <vt:lpstr>INTRODUCTION</vt:lpstr>
      <vt:lpstr>DATA STRUCTURES USED</vt:lpstr>
      <vt:lpstr>ADVANTAGES</vt:lpstr>
      <vt:lpstr>BLOCK DIAGRAM</vt:lpstr>
      <vt:lpstr>BLOCK DIAGRAM - DESCRIPTION</vt:lpstr>
      <vt:lpstr>LIST OF MODULES</vt:lpstr>
      <vt:lpstr>MODULE DESCRIPTION</vt:lpstr>
      <vt:lpstr>MODULE DESCRIPTION(CONT…)</vt:lpstr>
      <vt:lpstr>RESULTS AND DISCUSSION</vt:lpstr>
      <vt:lpstr>RESULTS AND DISCUSSION(CONT…)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MGB1121/ CGB1122/EGB1121 – DATA STRUCTURES PROJECT REVIEW-1</dc:title>
  <dc:creator>Sribharathi</dc:creator>
  <cp:lastModifiedBy>BHARATHI S</cp:lastModifiedBy>
  <cp:revision>14</cp:revision>
  <dcterms:modified xsi:type="dcterms:W3CDTF">2026-06-02T09:14:27Z</dcterms:modified>
</cp:coreProperties>
</file>